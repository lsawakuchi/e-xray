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7"/>
  </p:notesMasterIdLst>
  <p:handoutMasterIdLst>
    <p:handoutMasterId r:id="rId28"/>
  </p:handoutMasterIdLst>
  <p:sldIdLst>
    <p:sldId id="256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74" r:id="rId13"/>
    <p:sldId id="269" r:id="rId14"/>
    <p:sldId id="270" r:id="rId15"/>
    <p:sldId id="271" r:id="rId16"/>
    <p:sldId id="278" r:id="rId17"/>
    <p:sldId id="279" r:id="rId18"/>
    <p:sldId id="280" r:id="rId19"/>
    <p:sldId id="281" r:id="rId20"/>
    <p:sldId id="277" r:id="rId21"/>
    <p:sldId id="264" r:id="rId22"/>
    <p:sldId id="275" r:id="rId23"/>
    <p:sldId id="276" r:id="rId24"/>
    <p:sldId id="283" r:id="rId25"/>
    <p:sldId id="257" r:id="rId2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Roboto Slab" panose="020B0604020202020204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109416"/>
    <a:srgbClr val="12D4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1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6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1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36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F7458A-2737-4A60-B2B5-19EF7BC16A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6E9D2-6A80-487D-BBA6-3990193931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AE9C1-D91C-4411-8530-3DF23196E110}" type="datetimeFigureOut">
              <a:rPr lang="en-US" smtClean="0"/>
              <a:t>11/28/2018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AC0B9-42CB-4087-8B1E-896F7F376A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32739-5E7F-4824-B337-7C36850E157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CAF52-5B2D-4066-861C-9D11A427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8760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466aa0052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466aa0052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66aa0052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466aa0052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66aa00520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66aa00520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466aa00520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466aa00520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66aa0052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66aa0052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66aa0052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66aa0052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5982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66aa0052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66aa0052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6133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66aa0052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66aa0052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6773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66aa0052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66aa0052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84795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66aa0052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66aa0052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7515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66aa0052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66aa0052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09268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66aa0052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66aa0052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3634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66aa0052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66aa0052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1375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66aa0052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66aa0052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67489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66aa0052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66aa0052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7397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66aa0052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66aa0052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0909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66aa0052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66aa0052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70119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66aa00520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466aa00520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45673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466aa00520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466aa00520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66aa00520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466aa00520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00827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66aa00520_0_1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66aa00520_0_1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31784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66aa00520_0_1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66aa00520_0_1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41946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466aa0052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466aa0052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0600" y="4897200"/>
            <a:ext cx="460650" cy="2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115865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0" y="4827200"/>
            <a:ext cx="7668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99999"/>
                </a:solidFill>
              </a:rPr>
              <a:t>PCS5733</a:t>
            </a:r>
            <a:endParaRPr sz="1000">
              <a:solidFill>
                <a:srgbClr val="999999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4" name="Google Shape;6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0600" y="4897200"/>
            <a:ext cx="460650" cy="2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/>
        </p:nvSpPr>
        <p:spPr>
          <a:xfrm>
            <a:off x="0" y="4827200"/>
            <a:ext cx="7668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99999"/>
                </a:solidFill>
              </a:rPr>
              <a:t>PCS5733</a:t>
            </a:r>
            <a:endParaRPr sz="1000">
              <a:solidFill>
                <a:srgbClr val="999999"/>
              </a:solidFill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1158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0600" y="4897200"/>
            <a:ext cx="460650" cy="2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0" y="4827200"/>
            <a:ext cx="7668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99999"/>
                </a:solidFill>
              </a:rPr>
              <a:t>PCS5733</a:t>
            </a:r>
            <a:endParaRPr sz="1000">
              <a:solidFill>
                <a:srgbClr val="999999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0600" y="4897200"/>
            <a:ext cx="460650" cy="2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0" y="4827200"/>
            <a:ext cx="7668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99999"/>
                </a:solidFill>
              </a:rPr>
              <a:t>PCS5733</a:t>
            </a:r>
            <a:endParaRPr sz="1000">
              <a:solidFill>
                <a:srgbClr val="999999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0600" y="4897200"/>
            <a:ext cx="460650" cy="2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0" y="4827200"/>
            <a:ext cx="7668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99999"/>
                </a:solidFill>
              </a:rPr>
              <a:t>PCS5733</a:t>
            </a:r>
            <a:endParaRPr sz="1000">
              <a:solidFill>
                <a:srgbClr val="999999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9" name="Google Shape;8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0600" y="4897200"/>
            <a:ext cx="460650" cy="2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0" y="4827200"/>
            <a:ext cx="7668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99999"/>
                </a:solidFill>
              </a:rPr>
              <a:t>PCS5733</a:t>
            </a:r>
            <a:endParaRPr sz="1000">
              <a:solidFill>
                <a:srgbClr val="999999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4" name="Google Shape;94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0600" y="4897200"/>
            <a:ext cx="460650" cy="2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0"/>
          <p:cNvSpPr txBox="1"/>
          <p:nvPr/>
        </p:nvSpPr>
        <p:spPr>
          <a:xfrm>
            <a:off x="0" y="4827200"/>
            <a:ext cx="7668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99999"/>
                </a:solidFill>
              </a:rPr>
              <a:t>PCS5733</a:t>
            </a:r>
            <a:endParaRPr sz="1000">
              <a:solidFill>
                <a:srgbClr val="999999"/>
              </a:solidFill>
            </a:endParaRPr>
          </a:p>
        </p:txBody>
      </p:sp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1158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0600" y="4897200"/>
            <a:ext cx="460650" cy="2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1"/>
          <p:cNvSpPr txBox="1"/>
          <p:nvPr/>
        </p:nvSpPr>
        <p:spPr>
          <a:xfrm>
            <a:off x="0" y="4827200"/>
            <a:ext cx="7668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99999"/>
                </a:solidFill>
              </a:rPr>
              <a:t>PCS5733</a:t>
            </a:r>
            <a:endParaRPr sz="1000">
              <a:solidFill>
                <a:srgbClr val="999999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0600" y="4897200"/>
            <a:ext cx="460650" cy="2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2"/>
          <p:cNvSpPr txBox="1"/>
          <p:nvPr/>
        </p:nvSpPr>
        <p:spPr>
          <a:xfrm>
            <a:off x="0" y="4827200"/>
            <a:ext cx="7668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99999"/>
                </a:solidFill>
              </a:rPr>
              <a:t>PCS5733</a:t>
            </a:r>
            <a:endParaRPr sz="1000">
              <a:solidFill>
                <a:srgbClr val="999999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2" name="Google Shape;112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30.png"/><Relationship Id="rId10" Type="http://schemas.openxmlformats.org/officeDocument/2006/relationships/image" Target="../media/image18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4598394-9954-4A83-B938-18A70251C6D6}"/>
              </a:ext>
            </a:extLst>
          </p:cNvPr>
          <p:cNvGrpSpPr/>
          <p:nvPr/>
        </p:nvGrpSpPr>
        <p:grpSpPr>
          <a:xfrm>
            <a:off x="0" y="0"/>
            <a:ext cx="9144001" cy="5146176"/>
            <a:chOff x="0" y="0"/>
            <a:chExt cx="9144001" cy="5146176"/>
          </a:xfrm>
        </p:grpSpPr>
        <p:pic>
          <p:nvPicPr>
            <p:cNvPr id="120" name="Google Shape;120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9144001" cy="5146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F4B3E82-2259-4C77-AD13-7D87FCFB9E6B}"/>
                </a:ext>
              </a:extLst>
            </p:cNvPr>
            <p:cNvSpPr txBox="1"/>
            <p:nvPr/>
          </p:nvSpPr>
          <p:spPr>
            <a:xfrm>
              <a:off x="506028" y="4671229"/>
              <a:ext cx="2982897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solidFill>
                    <a:schemeClr val="bg2">
                      <a:lumMod val="60000"/>
                      <a:lumOff val="40000"/>
                    </a:schemeClr>
                  </a:solidFill>
                </a:rPr>
                <a:t>10 DE NOVEMBRO DE 2018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2B8D5E"/>
              </a:gs>
              <a:gs pos="100000">
                <a:srgbClr val="29BA74"/>
              </a:gs>
            </a:gsLst>
            <a:lin ang="0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7"/>
          <p:cNvSpPr/>
          <p:nvPr/>
        </p:nvSpPr>
        <p:spPr>
          <a:xfrm>
            <a:off x="1890004" y="1145219"/>
            <a:ext cx="5559300" cy="2335681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2400" dirty="0">
                <a:solidFill>
                  <a:srgbClr val="FFD966"/>
                </a:solidFill>
                <a:latin typeface="Consolas" panose="020B0609020204030204" pitchFamily="49" charset="0"/>
                <a:ea typeface="Roboto Slab"/>
                <a:cs typeface="Roboto Slab"/>
                <a:sym typeface="Roboto Slab"/>
              </a:rPr>
              <a:t>E-xray: </a:t>
            </a:r>
            <a:r>
              <a:rPr lang="en-US" sz="2400" dirty="0">
                <a:solidFill>
                  <a:srgbClr val="FFD966"/>
                </a:solidFill>
                <a:latin typeface="Consolas" panose="020B0609020204030204" pitchFamily="49" charset="0"/>
                <a:ea typeface="Roboto Slab"/>
                <a:cs typeface="Roboto Slab"/>
                <a:sym typeface="Roboto Slab"/>
              </a:rPr>
              <a:t>Developed to change how we understand Education. Let’s get an X-ray from education sector!</a:t>
            </a:r>
          </a:p>
          <a:p>
            <a:pPr lvl="0"/>
            <a:r>
              <a:rPr lang="pt-BR" sz="2400" dirty="0">
                <a:solidFill>
                  <a:schemeClr val="tx1"/>
                </a:solidFill>
                <a:latin typeface="Consolas" panose="020B0609020204030204" pitchFamily="49" charset="0"/>
                <a:ea typeface="Roboto Slab"/>
                <a:cs typeface="Roboto Slab"/>
                <a:sym typeface="Roboto Slab"/>
              </a:rPr>
              <a:t>&gt;&gt; import xray</a:t>
            </a:r>
            <a:endParaRPr sz="2400" dirty="0">
              <a:solidFill>
                <a:schemeClr val="tx1"/>
              </a:solidFill>
              <a:latin typeface="Consolas" panose="020B0609020204030204" pitchFamily="49" charset="0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  <p:cxnSp>
        <p:nvCxnSpPr>
          <p:cNvPr id="140" name="Google Shape;140;p28"/>
          <p:cNvCxnSpPr/>
          <p:nvPr/>
        </p:nvCxnSpPr>
        <p:spPr>
          <a:xfrm>
            <a:off x="0" y="569200"/>
            <a:ext cx="91659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" name="Google Shape;141;p28"/>
          <p:cNvSpPr txBox="1"/>
          <p:nvPr/>
        </p:nvSpPr>
        <p:spPr>
          <a:xfrm>
            <a:off x="240275" y="-7050"/>
            <a:ext cx="51258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/>
              <a:t>Introdução</a:t>
            </a:r>
            <a:endParaRPr sz="2400" b="1"/>
          </a:p>
        </p:txBody>
      </p:sp>
      <p:pic>
        <p:nvPicPr>
          <p:cNvPr id="142" name="Google Shape;142;p28" descr="https://8nuwa2vbpd427a7jp9r7di13-wpengine.netdna-ssl.com/wp-content/uploads/2017/09/checklist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5" y="0"/>
            <a:ext cx="9132846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8"/>
          <p:cNvPicPr preferRelativeResize="0"/>
          <p:nvPr/>
        </p:nvPicPr>
        <p:blipFill rotWithShape="1">
          <a:blip r:embed="rId4">
            <a:alphaModFix amt="83000"/>
          </a:blip>
          <a:srcRect/>
          <a:stretch/>
        </p:blipFill>
        <p:spPr>
          <a:xfrm>
            <a:off x="0" y="0"/>
            <a:ext cx="9250883" cy="5486398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noFill/>
          </a:ln>
        </p:spPr>
      </p:pic>
      <p:sp>
        <p:nvSpPr>
          <p:cNvPr id="144" name="Google Shape;144;p28"/>
          <p:cNvSpPr/>
          <p:nvPr/>
        </p:nvSpPr>
        <p:spPr>
          <a:xfrm rot="-5400000">
            <a:off x="6531975" y="1697650"/>
            <a:ext cx="1704900" cy="565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78256"/>
              </a:gs>
              <a:gs pos="100000">
                <a:srgbClr val="29BA7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5508520" y="3823067"/>
            <a:ext cx="3142500" cy="12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pt-BR" sz="3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Abordagem</a:t>
            </a:r>
            <a:endParaRPr sz="3100" b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4681227" y="3823066"/>
            <a:ext cx="932700" cy="12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F237"/>
              </a:buClr>
              <a:buSzPts val="8000"/>
              <a:buFont typeface="Arial"/>
              <a:buNone/>
            </a:pPr>
            <a:r>
              <a:rPr lang="pt-BR" sz="7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7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ctrTitle"/>
          </p:nvPr>
        </p:nvSpPr>
        <p:spPr>
          <a:xfrm>
            <a:off x="311700" y="76200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Abordagem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74746C-4ADA-43B0-845F-AFEAE478D183}"/>
              </a:ext>
            </a:extLst>
          </p:cNvPr>
          <p:cNvSpPr txBox="1"/>
          <p:nvPr/>
        </p:nvSpPr>
        <p:spPr>
          <a:xfrm>
            <a:off x="408372" y="701904"/>
            <a:ext cx="832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78256"/>
                </a:solidFill>
                <a:latin typeface="Times New Roman"/>
                <a:cs typeface="Times New Roman"/>
              </a:rPr>
              <a:t>Qual a </a:t>
            </a:r>
            <a:r>
              <a:rPr lang="en-US" sz="2000" dirty="0" err="1">
                <a:solidFill>
                  <a:srgbClr val="278256"/>
                </a:solidFill>
                <a:latin typeface="Times New Roman"/>
                <a:cs typeface="Times New Roman"/>
              </a:rPr>
              <a:t>melhor</a:t>
            </a:r>
            <a:r>
              <a:rPr lang="en-US" sz="2000" dirty="0">
                <a:solidFill>
                  <a:srgbClr val="278256"/>
                </a:solidFill>
                <a:latin typeface="Times New Roman"/>
                <a:cs typeface="Times New Roman"/>
              </a:rPr>
              <a:t> forma de </a:t>
            </a:r>
            <a:r>
              <a:rPr lang="en-US" sz="2000" dirty="0" err="1">
                <a:solidFill>
                  <a:srgbClr val="278256"/>
                </a:solidFill>
                <a:latin typeface="Times New Roman"/>
                <a:cs typeface="Times New Roman"/>
              </a:rPr>
              <a:t>utilizar</a:t>
            </a:r>
            <a:r>
              <a:rPr lang="en-US" sz="2000" dirty="0">
                <a:solidFill>
                  <a:srgbClr val="278256"/>
                </a:solidFill>
                <a:latin typeface="Times New Roman"/>
                <a:cs typeface="Times New Roman"/>
              </a:rPr>
              <a:t> o Ideb para </a:t>
            </a:r>
            <a:r>
              <a:rPr lang="en-US" sz="2000" dirty="0" err="1">
                <a:solidFill>
                  <a:srgbClr val="278256"/>
                </a:solidFill>
                <a:latin typeface="Times New Roman"/>
                <a:cs typeface="Times New Roman"/>
              </a:rPr>
              <a:t>entender</a:t>
            </a:r>
            <a:r>
              <a:rPr lang="en-US" sz="2000" dirty="0">
                <a:solidFill>
                  <a:srgbClr val="278256"/>
                </a:solidFill>
                <a:latin typeface="Times New Roman"/>
                <a:cs typeface="Times New Roman"/>
              </a:rPr>
              <a:t> a </a:t>
            </a:r>
            <a:r>
              <a:rPr lang="en-US" sz="2000" dirty="0" err="1">
                <a:solidFill>
                  <a:srgbClr val="278256"/>
                </a:solidFill>
                <a:latin typeface="Times New Roman"/>
                <a:cs typeface="Times New Roman"/>
              </a:rPr>
              <a:t>situação</a:t>
            </a:r>
            <a:r>
              <a:rPr lang="en-US" sz="2000" dirty="0">
                <a:solidFill>
                  <a:srgbClr val="278256"/>
                </a:solidFill>
                <a:latin typeface="Times New Roman"/>
                <a:cs typeface="Times New Roman"/>
              </a:rPr>
              <a:t> das </a:t>
            </a:r>
            <a:r>
              <a:rPr lang="en-US" sz="2000" dirty="0" err="1">
                <a:solidFill>
                  <a:srgbClr val="278256"/>
                </a:solidFill>
                <a:latin typeface="Times New Roman"/>
                <a:cs typeface="Times New Roman"/>
              </a:rPr>
              <a:t>escolas</a:t>
            </a:r>
            <a:r>
              <a:rPr lang="en-US" sz="2000" dirty="0">
                <a:solidFill>
                  <a:srgbClr val="278256"/>
                </a:solidFill>
                <a:latin typeface="Times New Roman"/>
                <a:cs typeface="Times New Roman"/>
              </a:rPr>
              <a:t> e </a:t>
            </a:r>
            <a:r>
              <a:rPr lang="en-US" sz="2000" dirty="0" err="1">
                <a:solidFill>
                  <a:srgbClr val="278256"/>
                </a:solidFill>
                <a:latin typeface="Times New Roman"/>
                <a:cs typeface="Times New Roman"/>
              </a:rPr>
              <a:t>traçar</a:t>
            </a:r>
            <a:r>
              <a:rPr lang="en-US" sz="2000" dirty="0">
                <a:solidFill>
                  <a:srgbClr val="278256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278256"/>
                </a:solidFill>
                <a:latin typeface="Times New Roman"/>
                <a:cs typeface="Times New Roman"/>
              </a:rPr>
              <a:t>metas</a:t>
            </a:r>
            <a:r>
              <a:rPr lang="en-US" sz="2000" dirty="0">
                <a:solidFill>
                  <a:srgbClr val="278256"/>
                </a:solidFill>
                <a:latin typeface="Times New Roman"/>
                <a:cs typeface="Times New Roman"/>
              </a:rPr>
              <a:t> que </a:t>
            </a:r>
            <a:r>
              <a:rPr lang="en-US" sz="2000" dirty="0" err="1">
                <a:solidFill>
                  <a:srgbClr val="278256"/>
                </a:solidFill>
                <a:latin typeface="Times New Roman"/>
                <a:cs typeface="Times New Roman"/>
              </a:rPr>
              <a:t>expressem</a:t>
            </a:r>
            <a:r>
              <a:rPr lang="en-US" sz="2000" dirty="0">
                <a:solidFill>
                  <a:srgbClr val="278256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278256"/>
                </a:solidFill>
                <a:latin typeface="Times New Roman"/>
                <a:cs typeface="Times New Roman"/>
              </a:rPr>
              <a:t>melhorias</a:t>
            </a:r>
            <a:r>
              <a:rPr lang="en-US" sz="2000" dirty="0">
                <a:solidFill>
                  <a:srgbClr val="278256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278256"/>
                </a:solidFill>
                <a:latin typeface="Times New Roman"/>
                <a:cs typeface="Times New Roman"/>
              </a:rPr>
              <a:t>reais</a:t>
            </a:r>
            <a:r>
              <a:rPr lang="en-US" sz="2000" dirty="0">
                <a:solidFill>
                  <a:srgbClr val="278256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278256"/>
                </a:solidFill>
                <a:latin typeface="Times New Roman"/>
                <a:cs typeface="Times New Roman"/>
              </a:rPr>
              <a:t>na</a:t>
            </a:r>
            <a:r>
              <a:rPr lang="en-US" sz="2000" dirty="0">
                <a:solidFill>
                  <a:srgbClr val="278256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278256"/>
                </a:solidFill>
                <a:latin typeface="Times New Roman"/>
                <a:cs typeface="Times New Roman"/>
              </a:rPr>
              <a:t>Educação</a:t>
            </a:r>
            <a:r>
              <a:rPr lang="en-US" sz="2000" dirty="0">
                <a:solidFill>
                  <a:srgbClr val="278256"/>
                </a:solidFill>
                <a:latin typeface="Times New Roman"/>
                <a:cs typeface="Times New Roman"/>
              </a:rPr>
              <a:t>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EEE0F0-ADF2-4AB6-9EA1-4F5F1BFE8F93}"/>
              </a:ext>
            </a:extLst>
          </p:cNvPr>
          <p:cNvGrpSpPr/>
          <p:nvPr/>
        </p:nvGrpSpPr>
        <p:grpSpPr>
          <a:xfrm>
            <a:off x="186614" y="1631731"/>
            <a:ext cx="3692927" cy="2749180"/>
            <a:chOff x="186614" y="1597849"/>
            <a:chExt cx="3692927" cy="274918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AF06187-E4CE-4C84-A2D5-CD5426BFB618}"/>
                </a:ext>
              </a:extLst>
            </p:cNvPr>
            <p:cNvGrpSpPr/>
            <p:nvPr/>
          </p:nvGrpSpPr>
          <p:grpSpPr>
            <a:xfrm>
              <a:off x="186614" y="1951249"/>
              <a:ext cx="3692927" cy="2395780"/>
              <a:chOff x="186614" y="1951249"/>
              <a:chExt cx="3692927" cy="239578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B6B298-2E36-4664-97F6-00B5EF0DED40}"/>
                  </a:ext>
                </a:extLst>
              </p:cNvPr>
              <p:cNvSpPr/>
              <p:nvPr/>
            </p:nvSpPr>
            <p:spPr>
              <a:xfrm>
                <a:off x="186614" y="1951249"/>
                <a:ext cx="3692927" cy="2395780"/>
              </a:xfrm>
              <a:prstGeom prst="rect">
                <a:avLst/>
              </a:prstGeom>
              <a:noFill/>
              <a:ln w="19050">
                <a:solidFill>
                  <a:srgbClr val="12D47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B1B5A618-2F0D-4688-A1C2-C7745BB35CC1}"/>
                  </a:ext>
                </a:extLst>
              </p:cNvPr>
              <p:cNvGrpSpPr/>
              <p:nvPr/>
            </p:nvGrpSpPr>
            <p:grpSpPr>
              <a:xfrm>
                <a:off x="311700" y="2069704"/>
                <a:ext cx="3458222" cy="2045383"/>
                <a:chOff x="39454" y="1786820"/>
                <a:chExt cx="3458222" cy="2045383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F1DCE8E5-67CD-4900-8078-2D53300B88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454" y="1786820"/>
                  <a:ext cx="589874" cy="563612"/>
                </a:xfrm>
                <a:prstGeom prst="rect">
                  <a:avLst/>
                </a:prstGeom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E2602E1-C22C-403D-8294-F667DC78B93E}"/>
                    </a:ext>
                  </a:extLst>
                </p:cNvPr>
                <p:cNvSpPr txBox="1"/>
                <p:nvPr/>
              </p:nvSpPr>
              <p:spPr>
                <a:xfrm>
                  <a:off x="680619" y="1914737"/>
                  <a:ext cx="2648507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Dados históricos</a:t>
                  </a:r>
                </a:p>
              </p:txBody>
            </p:sp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7BCFF383-3641-4FBF-BC60-126B41AE81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424" y="2458199"/>
                  <a:ext cx="573904" cy="538526"/>
                </a:xfrm>
                <a:prstGeom prst="rect">
                  <a:avLst/>
                </a:prstGeom>
              </p:spPr>
            </p:pic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257B172-AFC3-49C3-A6AF-AF9BD25CA34A}"/>
                    </a:ext>
                  </a:extLst>
                </p:cNvPr>
                <p:cNvSpPr txBox="1"/>
                <p:nvPr/>
              </p:nvSpPr>
              <p:spPr>
                <a:xfrm>
                  <a:off x="680618" y="2473727"/>
                  <a:ext cx="2719529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Ideb </a:t>
                  </a:r>
                  <a:r>
                    <a:rPr lang="en-US" sz="13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calculado</a:t>
                  </a:r>
                  <a:r>
                    <a:rPr lang="en-US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</a:t>
                  </a:r>
                  <a:r>
                    <a:rPr lang="en-US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duas</a:t>
                  </a:r>
                  <a:r>
                    <a:rPr lang="en-US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etapas</a:t>
                  </a:r>
                  <a:r>
                    <a:rPr lang="en-US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do Ensino </a:t>
                  </a:r>
                  <a:r>
                    <a:rPr lang="en-US" sz="13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Básico</a:t>
                  </a:r>
                  <a:endPara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D25D02A-9166-45D9-B498-F88D1BA1F0DF}"/>
                    </a:ext>
                  </a:extLst>
                </p:cNvPr>
                <p:cNvSpPr txBox="1"/>
                <p:nvPr/>
              </p:nvSpPr>
              <p:spPr>
                <a:xfrm>
                  <a:off x="699724" y="3139706"/>
                  <a:ext cx="2797952" cy="6924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3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Quais</a:t>
                  </a:r>
                  <a:r>
                    <a:rPr lang="en-US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as </a:t>
                  </a:r>
                  <a:r>
                    <a:rPr lang="en-US" sz="13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melhores</a:t>
                  </a:r>
                  <a:r>
                    <a:rPr lang="en-US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métricas</a:t>
                  </a:r>
                  <a:r>
                    <a:rPr lang="en-US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capazes</a:t>
                  </a:r>
                  <a:r>
                    <a:rPr lang="en-US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de </a:t>
                  </a:r>
                  <a:r>
                    <a:rPr lang="en-US" sz="13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sintetizar</a:t>
                  </a:r>
                  <a:r>
                    <a:rPr lang="en-US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essas</a:t>
                  </a:r>
                  <a:r>
                    <a:rPr lang="en-US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3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informações</a:t>
                  </a:r>
                  <a:r>
                    <a:rPr lang="en-US" sz="13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?</a:t>
                  </a:r>
                </a:p>
              </p:txBody>
            </p:sp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6E84E3A2-CF8F-4086-A0A0-E5A002C8D2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424" y="3139706"/>
                  <a:ext cx="644300" cy="541849"/>
                </a:xfrm>
                <a:prstGeom prst="rect">
                  <a:avLst/>
                </a:prstGeom>
              </p:spPr>
            </p:pic>
          </p:grp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A359E0-F787-4790-AC35-0B52D0A76B19}"/>
                </a:ext>
              </a:extLst>
            </p:cNvPr>
            <p:cNvSpPr txBox="1"/>
            <p:nvPr/>
          </p:nvSpPr>
          <p:spPr>
            <a:xfrm>
              <a:off x="606637" y="1597849"/>
              <a:ext cx="24058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33CC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Motivação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CC7FFB6D-9FF1-4B27-895A-E65389EB8D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6825" y="2863836"/>
            <a:ext cx="457200" cy="4191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2D0DDC7-CD4D-4482-9382-FDF9DB686E31}"/>
              </a:ext>
            </a:extLst>
          </p:cNvPr>
          <p:cNvGrpSpPr/>
          <p:nvPr/>
        </p:nvGrpSpPr>
        <p:grpSpPr>
          <a:xfrm>
            <a:off x="4873966" y="1622853"/>
            <a:ext cx="3958334" cy="2921744"/>
            <a:chOff x="4873966" y="1622853"/>
            <a:chExt cx="3958334" cy="292174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CF79AC-7D8A-4883-B5E8-D1BE3B2BEEE6}"/>
                </a:ext>
              </a:extLst>
            </p:cNvPr>
            <p:cNvSpPr txBox="1"/>
            <p:nvPr/>
          </p:nvSpPr>
          <p:spPr>
            <a:xfrm>
              <a:off x="4971310" y="2082384"/>
              <a:ext cx="3763887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Podemos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extrair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informações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relevantes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observando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comportamento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histórico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de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uma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escola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Existem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métricas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complementares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taxas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de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crescimento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que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nos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ajudem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interpretar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dados históricos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Melhor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entendimento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nos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direciona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traçar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metas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mais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eficientes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8E1F3F1-B7DF-44CB-938C-1B8DCBB94439}"/>
                </a:ext>
              </a:extLst>
            </p:cNvPr>
            <p:cNvSpPr/>
            <p:nvPr/>
          </p:nvSpPr>
          <p:spPr>
            <a:xfrm>
              <a:off x="4873966" y="1970284"/>
              <a:ext cx="3958334" cy="2395779"/>
            </a:xfrm>
            <a:prstGeom prst="rect">
              <a:avLst/>
            </a:prstGeom>
            <a:noFill/>
            <a:ln w="19050">
              <a:solidFill>
                <a:srgbClr val="12D4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E1865DA-D0B7-4F62-97B0-C8B47B6DD5D8}"/>
                </a:ext>
              </a:extLst>
            </p:cNvPr>
            <p:cNvSpPr txBox="1"/>
            <p:nvPr/>
          </p:nvSpPr>
          <p:spPr>
            <a:xfrm>
              <a:off x="5650208" y="1622853"/>
              <a:ext cx="24058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33CC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Hipóteses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cxnSp>
        <p:nvCxnSpPr>
          <p:cNvPr id="157" name="Google Shape;157;p30"/>
          <p:cNvCxnSpPr/>
          <p:nvPr/>
        </p:nvCxnSpPr>
        <p:spPr>
          <a:xfrm>
            <a:off x="0" y="569200"/>
            <a:ext cx="91659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" name="Google Shape;158;p30"/>
          <p:cNvSpPr txBox="1"/>
          <p:nvPr/>
        </p:nvSpPr>
        <p:spPr>
          <a:xfrm>
            <a:off x="240275" y="-7050"/>
            <a:ext cx="51258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/>
              <a:t>Introdução</a:t>
            </a:r>
            <a:endParaRPr sz="2400" b="1"/>
          </a:p>
        </p:txBody>
      </p:sp>
      <p:pic>
        <p:nvPicPr>
          <p:cNvPr id="159" name="Google Shape;159;p30" descr="https://8nuwa2vbpd427a7jp9r7di13-wpengine.netdna-ssl.com/wp-content/uploads/2017/09/checklist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5" y="0"/>
            <a:ext cx="9132846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0"/>
          <p:cNvPicPr preferRelativeResize="0"/>
          <p:nvPr/>
        </p:nvPicPr>
        <p:blipFill rotWithShape="1">
          <a:blip r:embed="rId4">
            <a:alphaModFix amt="83000"/>
          </a:blip>
          <a:srcRect/>
          <a:stretch/>
        </p:blipFill>
        <p:spPr>
          <a:xfrm>
            <a:off x="0" y="0"/>
            <a:ext cx="9250883" cy="5486398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noFill/>
          </a:ln>
        </p:spPr>
      </p:pic>
      <p:sp>
        <p:nvSpPr>
          <p:cNvPr id="161" name="Google Shape;161;p30"/>
          <p:cNvSpPr/>
          <p:nvPr/>
        </p:nvSpPr>
        <p:spPr>
          <a:xfrm rot="-5400000">
            <a:off x="6531975" y="1697650"/>
            <a:ext cx="1704900" cy="565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78256"/>
              </a:gs>
              <a:gs pos="100000">
                <a:srgbClr val="29BA7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5508525" y="3823075"/>
            <a:ext cx="3807600" cy="12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pt-BR" sz="31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Metodologia</a:t>
            </a:r>
            <a:endParaRPr sz="3100" b="1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30"/>
          <p:cNvSpPr txBox="1"/>
          <p:nvPr/>
        </p:nvSpPr>
        <p:spPr>
          <a:xfrm>
            <a:off x="4681227" y="3823066"/>
            <a:ext cx="932700" cy="12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F237"/>
              </a:buClr>
              <a:buSzPts val="8000"/>
              <a:buFont typeface="Arial"/>
              <a:buNone/>
            </a:pPr>
            <a:r>
              <a:rPr lang="pt-BR" sz="7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7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ctrTitle"/>
          </p:nvPr>
        </p:nvSpPr>
        <p:spPr>
          <a:xfrm>
            <a:off x="311700" y="76200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Metodologia: Ponto de Partida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68;p31">
            <a:extLst>
              <a:ext uri="{FF2B5EF4-FFF2-40B4-BE49-F238E27FC236}">
                <a16:creationId xmlns:a16="http://schemas.microsoft.com/office/drawing/2014/main" id="{75409C8B-9A11-4498-87C3-54A4FA6A0073}"/>
              </a:ext>
            </a:extLst>
          </p:cNvPr>
          <p:cNvSpPr txBox="1">
            <a:spLocks/>
          </p:cNvSpPr>
          <p:nvPr/>
        </p:nvSpPr>
        <p:spPr>
          <a:xfrm>
            <a:off x="311700" y="632700"/>
            <a:ext cx="8520600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endParaRPr lang="pt-BR"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81B6FB-2D67-492E-ADA1-1D69299E61CB}"/>
              </a:ext>
            </a:extLst>
          </p:cNvPr>
          <p:cNvGrpSpPr/>
          <p:nvPr/>
        </p:nvGrpSpPr>
        <p:grpSpPr>
          <a:xfrm>
            <a:off x="84828" y="1240100"/>
            <a:ext cx="8974343" cy="2339202"/>
            <a:chOff x="169657" y="590430"/>
            <a:chExt cx="8974343" cy="233920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F90D2B8-4006-4F9C-B055-182A41FF3F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12" b="3821"/>
            <a:stretch/>
          </p:blipFill>
          <p:spPr>
            <a:xfrm>
              <a:off x="169657" y="590430"/>
              <a:ext cx="4402343" cy="233920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5373DA8-0237-44E4-9C7A-C325CA295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14043" y="694844"/>
              <a:ext cx="4429957" cy="2234787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F7D4090-BB10-49BF-B01E-BFE2242FD4ED}"/>
              </a:ext>
            </a:extLst>
          </p:cNvPr>
          <p:cNvSpPr txBox="1"/>
          <p:nvPr/>
        </p:nvSpPr>
        <p:spPr>
          <a:xfrm>
            <a:off x="187413" y="718990"/>
            <a:ext cx="86448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Guiamos nossos estudos investigando as curvas de Ideb inicial e final segundo duas perspectivas: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BE4FCC-EBD5-4F98-8649-92D22A1FFFD1}"/>
              </a:ext>
            </a:extLst>
          </p:cNvPr>
          <p:cNvSpPr txBox="1"/>
          <p:nvPr/>
        </p:nvSpPr>
        <p:spPr>
          <a:xfrm>
            <a:off x="136120" y="3688371"/>
            <a:ext cx="429975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Correspondência direta</a:t>
            </a:r>
            <a:r>
              <a:rPr lang="pt-B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resultado do Ideb para o ano inicial e final obtidos </a:t>
            </a:r>
            <a:r>
              <a:rPr lang="pt-B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pt-BR" sz="13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mesmo ano de avaliação</a:t>
            </a:r>
            <a:r>
              <a:rPr lang="pt-B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AEFFFD-0CFC-4633-882C-9E2AE61DD2E8}"/>
              </a:ext>
            </a:extLst>
          </p:cNvPr>
          <p:cNvSpPr txBox="1"/>
          <p:nvPr/>
        </p:nvSpPr>
        <p:spPr>
          <a:xfrm>
            <a:off x="4844242" y="3616899"/>
            <a:ext cx="4299758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3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Correspondência indireta </a:t>
            </a:r>
            <a:r>
              <a:rPr lang="pt-B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resultado do Ideb para o ano inicial e final obtidos para a </a:t>
            </a:r>
            <a:r>
              <a:rPr lang="pt-BR" sz="13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mesma amostra de alunos </a:t>
            </a:r>
            <a:r>
              <a:rPr lang="pt-B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sendo avaliada no início e no final do Ensino Básico</a:t>
            </a:r>
            <a:r>
              <a:rPr lang="pt-BR" sz="1200" dirty="0"/>
              <a:t>.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A1CFE5-4ECB-4C20-BB13-CF4F945B5770}"/>
              </a:ext>
            </a:extLst>
          </p:cNvPr>
          <p:cNvSpPr txBox="1"/>
          <p:nvPr/>
        </p:nvSpPr>
        <p:spPr>
          <a:xfrm>
            <a:off x="209116" y="4418465"/>
            <a:ext cx="8725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rgbClr val="278256"/>
                </a:solidFill>
                <a:latin typeface="Times New Roman"/>
                <a:cs typeface="Times New Roman"/>
              </a:rPr>
              <a:t>A tendência observada através das curvas de Ideb inicial e final feita através da correspondência indireta não está explícita nas curvas de correspondência direta.</a:t>
            </a:r>
            <a:endParaRPr lang="en-US" sz="1600" b="1" dirty="0">
              <a:solidFill>
                <a:srgbClr val="278256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ctrTitle"/>
          </p:nvPr>
        </p:nvSpPr>
        <p:spPr>
          <a:xfrm>
            <a:off x="311700" y="76200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Curvas de Correspondência Direta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68;p31">
            <a:extLst>
              <a:ext uri="{FF2B5EF4-FFF2-40B4-BE49-F238E27FC236}">
                <a16:creationId xmlns:a16="http://schemas.microsoft.com/office/drawing/2014/main" id="{75409C8B-9A11-4498-87C3-54A4FA6A0073}"/>
              </a:ext>
            </a:extLst>
          </p:cNvPr>
          <p:cNvSpPr txBox="1">
            <a:spLocks/>
          </p:cNvSpPr>
          <p:nvPr/>
        </p:nvSpPr>
        <p:spPr>
          <a:xfrm>
            <a:off x="299537" y="632700"/>
            <a:ext cx="8520600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endParaRPr lang="pt-BR"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7D4090-BB10-49BF-B01E-BFE2242FD4ED}"/>
              </a:ext>
            </a:extLst>
          </p:cNvPr>
          <p:cNvSpPr txBox="1"/>
          <p:nvPr/>
        </p:nvSpPr>
        <p:spPr>
          <a:xfrm>
            <a:off x="16776" y="699415"/>
            <a:ext cx="43845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Entender e quantificar como as curva de Ideb inicial e final (correspondência direta) se relacionam.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Iniciamos explorando medidas de correlação entre as curvas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957DD-B7DD-4DA3-9022-7A0D45F4A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6" y="2484402"/>
            <a:ext cx="4475326" cy="21501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CDE36B-7AD3-4529-9295-F56471979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837" y="2524177"/>
            <a:ext cx="4486364" cy="21104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A9AE381-8668-4E79-AC84-18B0265C2403}"/>
              </a:ext>
            </a:extLst>
          </p:cNvPr>
          <p:cNvSpPr txBox="1"/>
          <p:nvPr/>
        </p:nvSpPr>
        <p:spPr>
          <a:xfrm>
            <a:off x="4572000" y="697267"/>
            <a:ext cx="4486363" cy="954107"/>
          </a:xfrm>
          <a:prstGeom prst="rect">
            <a:avLst/>
          </a:prstGeom>
          <a:noFill/>
          <a:ln w="19050">
            <a:solidFill>
              <a:srgbClr val="33CC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Comportamentos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similares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entre as 	</a:t>
            </a:r>
            <a:r>
              <a:rPr lang="en-US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curvas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Ideb </a:t>
            </a:r>
            <a:r>
              <a:rPr lang="en-US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inicial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final : </a:t>
            </a:r>
            <a:r>
              <a:rPr lang="en-US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deficiências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no </a:t>
            </a:r>
            <a:r>
              <a:rPr lang="en-US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aprendizado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fluxo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transição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o </a:t>
            </a:r>
            <a:r>
              <a:rPr lang="en-US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período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final do Ensino </a:t>
            </a:r>
            <a:r>
              <a:rPr lang="en-US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Básico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AE576C-74D8-43C3-9260-A95ADC94C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124" y="732779"/>
            <a:ext cx="616813" cy="64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937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ctrTitle"/>
          </p:nvPr>
        </p:nvSpPr>
        <p:spPr>
          <a:xfrm>
            <a:off x="311700" y="76200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Curvas de Correspondência Direta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68;p31">
            <a:extLst>
              <a:ext uri="{FF2B5EF4-FFF2-40B4-BE49-F238E27FC236}">
                <a16:creationId xmlns:a16="http://schemas.microsoft.com/office/drawing/2014/main" id="{75409C8B-9A11-4498-87C3-54A4FA6A0073}"/>
              </a:ext>
            </a:extLst>
          </p:cNvPr>
          <p:cNvSpPr txBox="1">
            <a:spLocks/>
          </p:cNvSpPr>
          <p:nvPr/>
        </p:nvSpPr>
        <p:spPr>
          <a:xfrm>
            <a:off x="311700" y="632700"/>
            <a:ext cx="4260300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endParaRPr lang="pt-BR"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7D4090-BB10-49BF-B01E-BFE2242FD4ED}"/>
              </a:ext>
            </a:extLst>
          </p:cNvPr>
          <p:cNvSpPr txBox="1"/>
          <p:nvPr/>
        </p:nvSpPr>
        <p:spPr>
          <a:xfrm>
            <a:off x="152841" y="587454"/>
            <a:ext cx="441915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Queremos caracterizar as curvas de correspondência direta através de uma medida de dissimilaridade calculada a partir da correlação entre as curvas 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448C1C7-6D0F-42E8-BD31-95D2660FF3B7}"/>
              </a:ext>
            </a:extLst>
          </p:cNvPr>
          <p:cNvGrpSpPr/>
          <p:nvPr/>
        </p:nvGrpSpPr>
        <p:grpSpPr>
          <a:xfrm>
            <a:off x="680160" y="1455325"/>
            <a:ext cx="3591176" cy="1338630"/>
            <a:chOff x="4484252" y="1432555"/>
            <a:chExt cx="4961414" cy="12589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855F557D-5D55-438D-9536-342CB225DBD7}"/>
                    </a:ext>
                  </a:extLst>
                </p:cNvPr>
                <p:cNvSpPr txBox="1"/>
                <p:nvPr/>
              </p:nvSpPr>
              <p:spPr>
                <a:xfrm>
                  <a:off x="4500590" y="1741074"/>
                  <a:ext cx="3631567" cy="3032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=5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1 −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𝑐𝑜𝑟𝑟</m:t>
                            </m:r>
                            <m:d>
                              <m:d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𝑖𝑑𝑒</m:t>
                                </m:r>
                                <m:sSub>
                                  <m:sSub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𝑎𝑖</m:t>
                                    </m:r>
                                  </m:sub>
                                </m:s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𝑖𝑑𝑒</m:t>
                                </m:r>
                                <m:sSub>
                                  <m:sSub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𝑎𝑓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855F557D-5D55-438D-9536-342CB225DB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0590" y="1741074"/>
                  <a:ext cx="3631567" cy="303208"/>
                </a:xfrm>
                <a:prstGeom prst="rect">
                  <a:avLst/>
                </a:prstGeom>
                <a:blipFill>
                  <a:blip r:embed="rId3"/>
                  <a:stretch>
                    <a:fillRect l="-1160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C1C8987-20FB-4539-841C-0D2C7283CC70}"/>
                    </a:ext>
                  </a:extLst>
                </p:cNvPr>
                <p:cNvSpPr txBox="1"/>
                <p:nvPr/>
              </p:nvSpPr>
              <p:spPr>
                <a:xfrm>
                  <a:off x="4572000" y="2135186"/>
                  <a:ext cx="4810715" cy="2026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𝑜𝑛𝑑𝑒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𝑑𝑒𝑓𝑖𝑛𝑖𝑚𝑜𝑠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: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C1C8987-20FB-4539-841C-0D2C7283CC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2135186"/>
                  <a:ext cx="4810715" cy="202622"/>
                </a:xfrm>
                <a:prstGeom prst="rect">
                  <a:avLst/>
                </a:prstGeom>
                <a:blipFill>
                  <a:blip r:embed="rId5"/>
                  <a:stretch>
                    <a:fillRect l="-1456" b="-3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0B6CE3B-18C5-47EA-900E-16989B14E6AB}"/>
                    </a:ext>
                  </a:extLst>
                </p:cNvPr>
                <p:cNvSpPr txBox="1"/>
                <p:nvPr/>
              </p:nvSpPr>
              <p:spPr>
                <a:xfrm>
                  <a:off x="4484252" y="2472673"/>
                  <a:ext cx="4961414" cy="2188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𝑑𝑖𝑠𝑠𝑖𝑚𝑖𝑙𝑎𝑟𝑖𝑑𝑎𝑑𝑒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:=1 −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𝑐𝑜𝑟𝑟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𝑖𝑑𝑒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𝑖𝑑𝑒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𝑎𝑓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0B6CE3B-18C5-47EA-900E-16989B14E6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4252" y="2472673"/>
                  <a:ext cx="4961414" cy="218843"/>
                </a:xfrm>
                <a:prstGeom prst="rect">
                  <a:avLst/>
                </a:prstGeom>
                <a:blipFill>
                  <a:blip r:embed="rId6"/>
                  <a:stretch>
                    <a:fillRect l="-170" r="-509" b="-26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E05508F-76BF-4C2D-9024-DA6EA54DB86A}"/>
                    </a:ext>
                  </a:extLst>
                </p:cNvPr>
                <p:cNvSpPr txBox="1"/>
                <p:nvPr/>
              </p:nvSpPr>
              <p:spPr>
                <a:xfrm>
                  <a:off x="4572000" y="1432555"/>
                  <a:ext cx="2670998" cy="2026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  í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𝑛𝑑𝑖𝑐𝑒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𝑑𝑖𝑠𝑝𝑎𝑟𝑖𝑑𝑎𝑑𝑒</m:t>
                      </m:r>
                    </m:oMath>
                  </a14:m>
                  <a:r>
                    <a:rPr lang="en-US" dirty="0"/>
                    <a:t> *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E05508F-76BF-4C2D-9024-DA6EA54DB8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1432555"/>
                  <a:ext cx="2670998" cy="202622"/>
                </a:xfrm>
                <a:prstGeom prst="rect">
                  <a:avLst/>
                </a:prstGeom>
                <a:blipFill>
                  <a:blip r:embed="rId7"/>
                  <a:stretch>
                    <a:fillRect l="-2625" t="-28571" r="-3675" b="-5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54DC286-AE11-41D5-98CC-880C0ACCD68B}"/>
                  </a:ext>
                </a:extLst>
              </p:cNvPr>
              <p:cNvSpPr txBox="1"/>
              <p:nvPr/>
            </p:nvSpPr>
            <p:spPr>
              <a:xfrm>
                <a:off x="4730858" y="670143"/>
                <a:ext cx="4384587" cy="523220"/>
              </a:xfrm>
              <a:prstGeom prst="rect">
                <a:avLst/>
              </a:prstGeom>
              <a:noFill/>
              <a:ln w="19050">
                <a:solidFill>
                  <a:srgbClr val="33CCFF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rgbClr val="00B0F0"/>
                    </a:solidFill>
                    <a:latin typeface="Times New Roman"/>
                    <a:cs typeface="Times New Roman"/>
                  </a:rPr>
                  <a:t>Definimos uma escola como sendo díspar se apresenta índice de disparidade </a:t>
                </a:r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𝛿</m:t>
                    </m:r>
                    <m:r>
                      <a:rPr lang="en-US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/>
                      </a:rPr>
                      <m:t>&gt;</m:t>
                    </m:r>
                    <m:r>
                      <a:rPr lang="pt-BR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/>
                      </a:rPr>
                      <m:t>5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54DC286-AE11-41D5-98CC-880C0ACCD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858" y="670143"/>
                <a:ext cx="4384587" cy="523220"/>
              </a:xfrm>
              <a:prstGeom prst="rect">
                <a:avLst/>
              </a:prstGeom>
              <a:blipFill>
                <a:blip r:embed="rId8"/>
                <a:stretch>
                  <a:fillRect l="-277" t="-1124" b="-7865"/>
                </a:stretch>
              </a:blipFill>
              <a:ln w="19050">
                <a:solidFill>
                  <a:srgbClr val="33CC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FBCE231-09AB-4630-B8CA-5C9FC26C66FD}"/>
              </a:ext>
            </a:extLst>
          </p:cNvPr>
          <p:cNvCxnSpPr>
            <a:cxnSpLocks/>
          </p:cNvCxnSpPr>
          <p:nvPr/>
        </p:nvCxnSpPr>
        <p:spPr>
          <a:xfrm>
            <a:off x="4572000" y="587454"/>
            <a:ext cx="0" cy="455604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740740B-7BCC-482F-8D9D-D71585D4F5B9}"/>
              </a:ext>
            </a:extLst>
          </p:cNvPr>
          <p:cNvSpPr txBox="1"/>
          <p:nvPr/>
        </p:nvSpPr>
        <p:spPr>
          <a:xfrm>
            <a:off x="4847217" y="3832862"/>
            <a:ext cx="398508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objetivo desta m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étrica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identificar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pontos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atenção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a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situação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ideb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medidos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inicial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caminham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direção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oposta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observados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do Ensino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Básico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1EFF4D-A463-4E90-BB04-D7C4FEBD3EAD}"/>
              </a:ext>
            </a:extLst>
          </p:cNvPr>
          <p:cNvSpPr txBox="1"/>
          <p:nvPr/>
        </p:nvSpPr>
        <p:spPr>
          <a:xfrm>
            <a:off x="0" y="4868693"/>
            <a:ext cx="60634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métricas calculadas para séries de no mínimo 3 períodos de avaliação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335266-47B1-4C98-8AC3-A170BC321B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279" y="2919789"/>
            <a:ext cx="3422958" cy="18199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3D8190-987B-4343-9F26-B54FB8B22F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4252" y="1496844"/>
            <a:ext cx="4291012" cy="212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386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ctrTitle"/>
          </p:nvPr>
        </p:nvSpPr>
        <p:spPr>
          <a:xfrm>
            <a:off x="311700" y="76200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Curvas de Correspondência Indireta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68;p31">
            <a:extLst>
              <a:ext uri="{FF2B5EF4-FFF2-40B4-BE49-F238E27FC236}">
                <a16:creationId xmlns:a16="http://schemas.microsoft.com/office/drawing/2014/main" id="{75409C8B-9A11-4498-87C3-54A4FA6A0073}"/>
              </a:ext>
            </a:extLst>
          </p:cNvPr>
          <p:cNvSpPr txBox="1">
            <a:spLocks/>
          </p:cNvSpPr>
          <p:nvPr/>
        </p:nvSpPr>
        <p:spPr>
          <a:xfrm>
            <a:off x="311700" y="632700"/>
            <a:ext cx="4260300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endParaRPr lang="pt-BR"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7D4090-BB10-49BF-B01E-BFE2242FD4ED}"/>
              </a:ext>
            </a:extLst>
          </p:cNvPr>
          <p:cNvSpPr txBox="1"/>
          <p:nvPr/>
        </p:nvSpPr>
        <p:spPr>
          <a:xfrm>
            <a:off x="152841" y="587454"/>
            <a:ext cx="4419159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Queremos confrontar diretamente o desempenho de uma escola obtido através de uma mesma amostra de alunos sendo avaliados no início e no final do Ensino Básico.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alunos estão progredindo do 5˚ para o 9˚ ano?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 longo dos períodos de avaliação, está havendo aumento desta progressão?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Exploramos as curvas de correspondência indireta através das seguintes métricas: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2BB60-BF6F-4EBD-9217-E93B0304F994}"/>
              </a:ext>
            </a:extLst>
          </p:cNvPr>
          <p:cNvSpPr txBox="1"/>
          <p:nvPr/>
        </p:nvSpPr>
        <p:spPr>
          <a:xfrm>
            <a:off x="64064" y="4811133"/>
            <a:ext cx="6674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 métricas calculadas para séries de no mínimo 3 períodos de avaliação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2CCE45-E76D-4AAE-B5C1-9D65B362066B}"/>
              </a:ext>
            </a:extLst>
          </p:cNvPr>
          <p:cNvGrpSpPr/>
          <p:nvPr/>
        </p:nvGrpSpPr>
        <p:grpSpPr>
          <a:xfrm>
            <a:off x="248583" y="2659225"/>
            <a:ext cx="4030175" cy="1529736"/>
            <a:chOff x="381748" y="2882089"/>
            <a:chExt cx="4030175" cy="15297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C95B81B-5E3A-4B06-946F-D9BDCB47D8A2}"/>
                    </a:ext>
                  </a:extLst>
                </p:cNvPr>
                <p:cNvSpPr txBox="1"/>
                <p:nvPr/>
              </p:nvSpPr>
              <p:spPr>
                <a:xfrm>
                  <a:off x="468023" y="3354509"/>
                  <a:ext cx="3172472" cy="5988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𝑡𝑎𝑥𝑎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𝑝𝑟𝑜𝑔𝑟𝑒𝑠𝑠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≔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𝑖𝑑𝑒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𝑎𝑓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𝑖𝑑𝑒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𝑎𝑖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−1</m:t>
                      </m:r>
                    </m:oMath>
                  </a14:m>
                  <a:r>
                    <a:rPr lang="en-US" b="0" dirty="0"/>
                    <a:t> **</a:t>
                  </a:r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C95B81B-5E3A-4B06-946F-D9BDCB47D8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023" y="3354509"/>
                  <a:ext cx="3172472" cy="598882"/>
                </a:xfrm>
                <a:prstGeom prst="rect">
                  <a:avLst/>
                </a:prstGeom>
                <a:blipFill>
                  <a:blip r:embed="rId3"/>
                  <a:stretch>
                    <a:fillRect l="-1923" r="-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B686B65-276B-4CDC-9F09-DCFC4FD86693}"/>
                    </a:ext>
                  </a:extLst>
                </p:cNvPr>
                <p:cNvSpPr txBox="1"/>
                <p:nvPr/>
              </p:nvSpPr>
              <p:spPr>
                <a:xfrm>
                  <a:off x="381748" y="3985875"/>
                  <a:ext cx="3604329" cy="42595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𝑡𝑎𝑥𝑎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𝑒𝑣𝑜𝑙𝑢𝑐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ã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≔  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𝑐𝑟𝑒𝑠𝑐𝑖𝑚𝑒𝑛𝑡𝑜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𝑑𝑎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𝑡𝑎𝑥𝑎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𝑝𝑟𝑜𝑔𝑟𝑒𝑠𝑠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ã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∗∗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B686B65-276B-4CDC-9F09-DCFC4FD866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748" y="3985875"/>
                  <a:ext cx="3604329" cy="425950"/>
                </a:xfrm>
                <a:prstGeom prst="rect">
                  <a:avLst/>
                </a:prstGeom>
                <a:blipFill>
                  <a:blip r:embed="rId4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4C5F457-580E-4719-A612-FAEF500F31F7}"/>
                    </a:ext>
                  </a:extLst>
                </p:cNvPr>
                <p:cNvSpPr txBox="1"/>
                <p:nvPr/>
              </p:nvSpPr>
              <p:spPr>
                <a:xfrm>
                  <a:off x="468023" y="2882089"/>
                  <a:ext cx="3943900" cy="2361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𝑐𝑜𝑟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𝑐𝑜𝑟𝑟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𝑖𝑑𝑒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𝑎𝑖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𝑎𝑚𝑜𝑠𝑡𝑟𝑎</m:t>
                              </m:r>
                            </m:e>
                          </m:d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𝑖𝑑𝑒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𝑎𝑓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𝑎𝑚𝑜𝑠𝑡𝑟𝑎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dirty="0"/>
                    <a:t> **</a:t>
                  </a: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4C5F457-580E-4719-A612-FAEF500F31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023" y="2882089"/>
                  <a:ext cx="3943900" cy="236155"/>
                </a:xfrm>
                <a:prstGeom prst="rect">
                  <a:avLst/>
                </a:prstGeom>
                <a:blipFill>
                  <a:blip r:embed="rId5"/>
                  <a:stretch>
                    <a:fillRect l="-1236" t="-23077" r="-1700" b="-358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0DA1B7A-FD0A-4471-BEE2-A251B1F73A6F}"/>
              </a:ext>
            </a:extLst>
          </p:cNvPr>
          <p:cNvCxnSpPr>
            <a:cxnSpLocks/>
          </p:cNvCxnSpPr>
          <p:nvPr/>
        </p:nvCxnSpPr>
        <p:spPr>
          <a:xfrm>
            <a:off x="4572000" y="587454"/>
            <a:ext cx="0" cy="455604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EDFB5E2-383D-4413-9F1F-3C2447CA1B88}"/>
              </a:ext>
            </a:extLst>
          </p:cNvPr>
          <p:cNvSpPr txBox="1"/>
          <p:nvPr/>
        </p:nvSpPr>
        <p:spPr>
          <a:xfrm>
            <a:off x="4695349" y="674450"/>
            <a:ext cx="4384587" cy="1384995"/>
          </a:xfrm>
          <a:prstGeom prst="rect">
            <a:avLst/>
          </a:prstGeom>
          <a:noFill/>
          <a:ln w="19050">
            <a:solidFill>
              <a:srgbClr val="33CCFF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B0F0"/>
                </a:solidFill>
                <a:latin typeface="Times New Roman"/>
                <a:cs typeface="Times New Roman"/>
              </a:rPr>
              <a:t>Dizemos que houve progressão no aprendizado se a taxa de progressão calculada é positiva e se a correlação indireta for positiva.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B0F0"/>
                </a:solidFill>
                <a:latin typeface="Times New Roman"/>
                <a:cs typeface="Times New Roman"/>
              </a:rPr>
              <a:t>Para uma escola em que há progressão no aprendizado, dizemos que  está evoluindo se a taxa de evolução for positiva.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68957E2-0720-48ED-B37F-6DA216D43D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9221" y="2743194"/>
            <a:ext cx="4430715" cy="203585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C3E114B-E38A-4BCC-A3FA-25A26A15C260}"/>
              </a:ext>
            </a:extLst>
          </p:cNvPr>
          <p:cNvSpPr txBox="1"/>
          <p:nvPr/>
        </p:nvSpPr>
        <p:spPr>
          <a:xfrm>
            <a:off x="5101809" y="2294751"/>
            <a:ext cx="3978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 de um cenário de progressão e evolução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382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ctrTitle"/>
          </p:nvPr>
        </p:nvSpPr>
        <p:spPr>
          <a:xfrm>
            <a:off x="311700" y="76200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Aplicações das Métricas : Cenários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68;p31">
            <a:extLst>
              <a:ext uri="{FF2B5EF4-FFF2-40B4-BE49-F238E27FC236}">
                <a16:creationId xmlns:a16="http://schemas.microsoft.com/office/drawing/2014/main" id="{75409C8B-9A11-4498-87C3-54A4FA6A0073}"/>
              </a:ext>
            </a:extLst>
          </p:cNvPr>
          <p:cNvSpPr txBox="1">
            <a:spLocks/>
          </p:cNvSpPr>
          <p:nvPr/>
        </p:nvSpPr>
        <p:spPr>
          <a:xfrm>
            <a:off x="311700" y="632700"/>
            <a:ext cx="4260300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pt-BR" sz="16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Cenário 1 – Nível ótimo de desempenho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7D4090-BB10-49BF-B01E-BFE2242FD4ED}"/>
                  </a:ext>
                </a:extLst>
              </p:cNvPr>
              <p:cNvSpPr txBox="1"/>
              <p:nvPr/>
            </p:nvSpPr>
            <p:spPr>
              <a:xfrm>
                <a:off x="82801" y="1876250"/>
                <a:ext cx="4419159" cy="3061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pt-BR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𝒊𝒅𝒆</m:t>
                    </m:r>
                    <m:sSub>
                      <m:sSubPr>
                        <m:ctrlPr>
                          <a:rPr lang="pt-BR" sz="12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2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pt-BR" sz="12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𝒂𝒊</m:t>
                        </m:r>
                      </m:sub>
                    </m:sSub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pt-B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 escola deve ter atingido ou superado o valor meta do ideb no ano inicial;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1200" b="1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𝒊𝒅𝒆</m:t>
                    </m:r>
                    <m:sSub>
                      <m:sSubPr>
                        <m:ctrlPr>
                          <a:rPr lang="pt-BR" sz="12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2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pt-BR" sz="12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𝒂𝒇</m:t>
                        </m:r>
                      </m:sub>
                    </m:sSub>
                    <m:r>
                      <a:rPr lang="pt-BR" sz="1200" b="1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pt-BR" sz="1200" b="1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pt-B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 escola deve ter atingido ou superado o valor meta do ideb no ano final;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𝒊𝒏𝒅𝒊𝒄𝒆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𝒅𝒆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𝒅𝒊𝒔𝒑𝒂𝒓𝒊𝒅𝒂𝒅𝒆</m:t>
                    </m:r>
                    <m:r>
                      <a:rPr lang="en-US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pt-B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 escola deve ser similar em relação a forma como os idebs inicial e final evoluem;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𝒄𝒐𝒓𝒓𝒆𝒍𝒂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çã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𝒐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𝒊𝒏𝒅𝒊𝒓𝒆𝒕𝒂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pt-B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 escola deve ser similar em relação a forma como os idebs inicial e final evoluem, quando considerados para a mesma amostra de alunos;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𝒕𝒂𝒙𝒂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𝒅𝒆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𝒑𝒓𝒐𝒈𝒓𝒆𝒔𝒔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ã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𝒐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pt-B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os alunos quando avaliados no 9˚ ano apresentam ideb superior ao obtido quando foram avaliados no 5˚ ano;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𝒕𝒂𝒙𝒂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𝒅𝒆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𝒆𝒗𝒐𝒍𝒖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çã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𝒐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pt-BR" sz="1200" b="1" dirty="0">
                    <a:solidFill>
                      <a:schemeClr val="accent5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o desempenho da mesma amostra de alunos avaliada no 9˚  ano é maior que o desempenho registrado no 5˚ ano e está aumentando.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7D4090-BB10-49BF-B01E-BFE2242FD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1" y="1876250"/>
                <a:ext cx="4419159" cy="3061800"/>
              </a:xfrm>
              <a:prstGeom prst="rect">
                <a:avLst/>
              </a:prstGeom>
              <a:blipFill>
                <a:blip r:embed="rId3"/>
                <a:stretch>
                  <a:fillRect r="-276" b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0D04371-56AE-4502-A844-647E1345843E}"/>
              </a:ext>
            </a:extLst>
          </p:cNvPr>
          <p:cNvSpPr txBox="1"/>
          <p:nvPr/>
        </p:nvSpPr>
        <p:spPr>
          <a:xfrm>
            <a:off x="415243" y="1189200"/>
            <a:ext cx="3754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Podemos definir um nível ótimo na educação como o correspodente aos seguintes parâmetros: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FE4F13-4F96-44B8-B117-D07015F0B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195" y="3283264"/>
            <a:ext cx="439445" cy="2477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43755AA-EF5E-47C6-B91D-02647C232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503" y="2934583"/>
            <a:ext cx="4538497" cy="21327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9ED2AF-F3A1-4951-A06C-A93AED357F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5503" y="610347"/>
            <a:ext cx="4419764" cy="214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51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ctrTitle"/>
          </p:nvPr>
        </p:nvSpPr>
        <p:spPr>
          <a:xfrm>
            <a:off x="311700" y="76200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Aplicações das Métricas : Cenários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68;p31">
            <a:extLst>
              <a:ext uri="{FF2B5EF4-FFF2-40B4-BE49-F238E27FC236}">
                <a16:creationId xmlns:a16="http://schemas.microsoft.com/office/drawing/2014/main" id="{75409C8B-9A11-4498-87C3-54A4FA6A0073}"/>
              </a:ext>
            </a:extLst>
          </p:cNvPr>
          <p:cNvSpPr txBox="1">
            <a:spLocks/>
          </p:cNvSpPr>
          <p:nvPr/>
        </p:nvSpPr>
        <p:spPr>
          <a:xfrm>
            <a:off x="311700" y="632700"/>
            <a:ext cx="4260300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pt-BR" sz="16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Cenário 1 – Nível ótimo de desempenho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3CC409-D42F-4034-9A28-D75CF46946CD}"/>
              </a:ext>
            </a:extLst>
          </p:cNvPr>
          <p:cNvGrpSpPr/>
          <p:nvPr/>
        </p:nvGrpSpPr>
        <p:grpSpPr>
          <a:xfrm>
            <a:off x="88933" y="1175816"/>
            <a:ext cx="4705833" cy="2824043"/>
            <a:chOff x="18736" y="1686757"/>
            <a:chExt cx="4705833" cy="2824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C6FFBCC-ABD6-4D56-BA53-EF9DF9CA3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736" y="2148396"/>
              <a:ext cx="4705833" cy="236240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C43535D-F37A-4EE8-89DB-BFEA12A5C5EF}"/>
                </a:ext>
              </a:extLst>
            </p:cNvPr>
            <p:cNvSpPr txBox="1"/>
            <p:nvPr/>
          </p:nvSpPr>
          <p:spPr>
            <a:xfrm>
              <a:off x="656948" y="1686757"/>
              <a:ext cx="324922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 err="1">
                  <a:solidFill>
                    <a:srgbClr val="33CC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Correspondência</a:t>
              </a:r>
              <a:r>
                <a:rPr lang="en-US" sz="1500" dirty="0">
                  <a:solidFill>
                    <a:srgbClr val="33CC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500" dirty="0" err="1">
                  <a:solidFill>
                    <a:srgbClr val="33CC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Direta</a:t>
              </a:r>
              <a:endParaRPr lang="en-US" sz="1500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EFCDDB5-3C50-467F-B2E5-444D8D1B973C}"/>
              </a:ext>
            </a:extLst>
          </p:cNvPr>
          <p:cNvGrpSpPr/>
          <p:nvPr/>
        </p:nvGrpSpPr>
        <p:grpSpPr>
          <a:xfrm>
            <a:off x="4572000" y="1186240"/>
            <a:ext cx="4437834" cy="2833226"/>
            <a:chOff x="4724570" y="1677574"/>
            <a:chExt cx="4437834" cy="283322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77F5E1B-69AE-4DE1-AC5B-70F4613C3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24570" y="2148396"/>
              <a:ext cx="4437834" cy="236240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7BB4D4A-A7B2-4447-83C4-96CA41334050}"/>
                </a:ext>
              </a:extLst>
            </p:cNvPr>
            <p:cNvSpPr txBox="1"/>
            <p:nvPr/>
          </p:nvSpPr>
          <p:spPr>
            <a:xfrm>
              <a:off x="5318873" y="1677574"/>
              <a:ext cx="324922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 err="1">
                  <a:solidFill>
                    <a:srgbClr val="33CC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Correspondência</a:t>
              </a:r>
              <a:r>
                <a:rPr lang="en-US" sz="1500" dirty="0">
                  <a:solidFill>
                    <a:srgbClr val="33CC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500" dirty="0" err="1">
                  <a:solidFill>
                    <a:srgbClr val="33CC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Indireta</a:t>
              </a:r>
              <a:endParaRPr lang="en-US" sz="1500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019CAE0-5ED9-4221-B149-F08226C46ADD}"/>
              </a:ext>
            </a:extLst>
          </p:cNvPr>
          <p:cNvSpPr txBox="1"/>
          <p:nvPr/>
        </p:nvSpPr>
        <p:spPr>
          <a:xfrm>
            <a:off x="630314" y="4280380"/>
            <a:ext cx="33460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Índice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disparidade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0.3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Crescimento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Ideb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Inicial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1.25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Crescimento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Ideb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Final : 0.65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9AC108-4C07-4F5A-87B1-1113C2860922}"/>
              </a:ext>
            </a:extLst>
          </p:cNvPr>
          <p:cNvSpPr txBox="1"/>
          <p:nvPr/>
        </p:nvSpPr>
        <p:spPr>
          <a:xfrm>
            <a:off x="5261817" y="4258644"/>
            <a:ext cx="33460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Correlação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Indireta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0.8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Taxa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Progressão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0.18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Taxa de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Evolução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0.20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A63CBE-3893-4E66-BC59-B8655619C410}"/>
              </a:ext>
            </a:extLst>
          </p:cNvPr>
          <p:cNvSpPr txBox="1"/>
          <p:nvPr/>
        </p:nvSpPr>
        <p:spPr>
          <a:xfrm>
            <a:off x="8210863" y="2433250"/>
            <a:ext cx="621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5.7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2C5E50-0648-427F-B52E-35AD473E8E88}"/>
              </a:ext>
            </a:extLst>
          </p:cNvPr>
          <p:cNvSpPr txBox="1"/>
          <p:nvPr/>
        </p:nvSpPr>
        <p:spPr>
          <a:xfrm>
            <a:off x="7900144" y="1909426"/>
            <a:ext cx="621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6.3</a:t>
            </a:r>
          </a:p>
        </p:txBody>
      </p:sp>
    </p:spTree>
    <p:extLst>
      <p:ext uri="{BB962C8B-B14F-4D97-AF65-F5344CB8AC3E}">
        <p14:creationId xmlns:p14="http://schemas.microsoft.com/office/powerpoint/2010/main" val="949633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ctrTitle"/>
          </p:nvPr>
        </p:nvSpPr>
        <p:spPr>
          <a:xfrm>
            <a:off x="311700" y="76200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Aplicações das Métricas : Cenários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68;p31">
            <a:extLst>
              <a:ext uri="{FF2B5EF4-FFF2-40B4-BE49-F238E27FC236}">
                <a16:creationId xmlns:a16="http://schemas.microsoft.com/office/drawing/2014/main" id="{75409C8B-9A11-4498-87C3-54A4FA6A0073}"/>
              </a:ext>
            </a:extLst>
          </p:cNvPr>
          <p:cNvSpPr txBox="1">
            <a:spLocks/>
          </p:cNvSpPr>
          <p:nvPr/>
        </p:nvSpPr>
        <p:spPr>
          <a:xfrm>
            <a:off x="311700" y="408433"/>
            <a:ext cx="5698483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pt-BR" sz="16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Cenário 2 – Escolas que estão evoluindo para o cenário ótimo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ACFB5DF-CA51-4EA3-8CF3-107E15576698}"/>
              </a:ext>
            </a:extLst>
          </p:cNvPr>
          <p:cNvGrpSpPr/>
          <p:nvPr/>
        </p:nvGrpSpPr>
        <p:grpSpPr>
          <a:xfrm>
            <a:off x="420831" y="1236030"/>
            <a:ext cx="2081766" cy="1014951"/>
            <a:chOff x="694737" y="2380384"/>
            <a:chExt cx="1736921" cy="10149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180B86A-EFC7-44AD-8A2F-2C463D821D0A}"/>
                    </a:ext>
                  </a:extLst>
                </p:cNvPr>
                <p:cNvSpPr txBox="1"/>
                <p:nvPr/>
              </p:nvSpPr>
              <p:spPr>
                <a:xfrm>
                  <a:off x="694737" y="2380384"/>
                  <a:ext cx="81120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𝒊𝒅𝒆</m:t>
                      </m:r>
                      <m:sSub>
                        <m:sSubPr>
                          <m:ctrlPr>
                            <a:rPr lang="pt-BR" sz="11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1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pt-BR" sz="11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𝒂𝒊</m:t>
                          </m:r>
                        </m:sub>
                      </m:sSub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a14:m>
                  <a:endParaRPr lang="pt-BR" sz="1100" b="1" dirty="0">
                    <a:solidFill>
                      <a:schemeClr val="accent5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180B86A-EFC7-44AD-8A2F-2C463D821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737" y="2380384"/>
                  <a:ext cx="811200" cy="169277"/>
                </a:xfrm>
                <a:prstGeom prst="rect">
                  <a:avLst/>
                </a:prstGeom>
                <a:blipFill>
                  <a:blip r:embed="rId3"/>
                  <a:stretch>
                    <a:fillRect l="-8125" t="-21429" r="-3750" b="-4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03388A4-F116-46EE-8BA0-EE735B01D8D1}"/>
                    </a:ext>
                  </a:extLst>
                </p:cNvPr>
                <p:cNvSpPr txBox="1"/>
                <p:nvPr/>
              </p:nvSpPr>
              <p:spPr>
                <a:xfrm>
                  <a:off x="694737" y="2550371"/>
                  <a:ext cx="827249" cy="1853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𝒊𝒅𝒆</m:t>
                      </m:r>
                      <m:sSub>
                        <m:sSubPr>
                          <m:ctrlPr>
                            <a:rPr lang="pt-BR" sz="11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1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pt-BR" sz="11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𝒂𝒇</m:t>
                          </m:r>
                        </m:sub>
                      </m:sSub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a14:m>
                  <a:endParaRPr lang="pt-BR" sz="1100" b="1" dirty="0">
                    <a:solidFill>
                      <a:schemeClr val="accent5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03388A4-F116-46EE-8BA0-EE735B01D8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737" y="2550371"/>
                  <a:ext cx="827249" cy="185307"/>
                </a:xfrm>
                <a:prstGeom prst="rect">
                  <a:avLst/>
                </a:prstGeom>
                <a:blipFill>
                  <a:blip r:embed="rId4"/>
                  <a:stretch>
                    <a:fillRect l="-7975" t="-20000" r="-3681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877C476-F431-4DF9-B777-7173001A941B}"/>
                    </a:ext>
                  </a:extLst>
                </p:cNvPr>
                <p:cNvSpPr txBox="1"/>
                <p:nvPr/>
              </p:nvSpPr>
              <p:spPr>
                <a:xfrm>
                  <a:off x="699802" y="2718227"/>
                  <a:ext cx="1731856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pt-BR" sz="1100" b="1" i="1" dirty="0">
                      <a:solidFill>
                        <a:schemeClr val="accent5">
                          <a:lumMod val="50000"/>
                        </a:schemeClr>
                      </a:solidFill>
                    </a:rPr>
                    <a:t>í</a:t>
                  </a:r>
                  <a14:m>
                    <m:oMath xmlns:m="http://schemas.openxmlformats.org/officeDocument/2006/math"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𝒏𝒅𝒊𝒄𝒆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𝒅𝒆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𝒅𝒊𝒔𝒑𝒂𝒓𝒊𝒅𝒂𝒅𝒆</m:t>
                      </m:r>
                      <m:r>
                        <a:rPr lang="en-US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a14:m>
                  <a:endParaRPr lang="pt-BR" sz="1100" b="1" dirty="0">
                    <a:solidFill>
                      <a:schemeClr val="accent5">
                        <a:lumMod val="50000"/>
                      </a:schemeClr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𝒄𝒐𝒓𝒓𝒆𝒍𝒂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çã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𝒐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𝒊𝒏𝒅𝒊𝒓𝒆𝒕𝒂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pt-BR" sz="1100" b="1" dirty="0">
                    <a:solidFill>
                      <a:schemeClr val="accent5">
                        <a:lumMod val="50000"/>
                      </a:schemeClr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𝒕𝒂𝒙𝒂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𝒅𝒆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𝒑𝒓𝒐𝒈𝒓𝒆𝒔𝒔</m:t>
                      </m:r>
                      <m:r>
                        <a:rPr lang="en-US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ã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𝒐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pt-BR" sz="1100" b="1" dirty="0">
                    <a:solidFill>
                      <a:schemeClr val="accent5">
                        <a:lumMod val="50000"/>
                      </a:schemeClr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𝒕𝒂𝒙𝒂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𝒅𝒆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𝒆𝒗𝒐𝒍𝒖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çã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𝒐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pt-BR" sz="11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pt-BR" sz="1100" b="1" dirty="0">
                    <a:solidFill>
                      <a:schemeClr val="accent5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877C476-F431-4DF9-B777-7173001A94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802" y="2718227"/>
                  <a:ext cx="1731856" cy="677108"/>
                </a:xfrm>
                <a:prstGeom prst="rect">
                  <a:avLst/>
                </a:prstGeom>
                <a:blipFill>
                  <a:blip r:embed="rId5"/>
                  <a:stretch>
                    <a:fillRect l="-3812" t="-7207" r="-1466" b="-117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CD3BB2A-ED69-4D07-B0DB-245CBBA530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4144" y="2562388"/>
            <a:ext cx="4410076" cy="21726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E15414-30D1-4BE1-A20C-3497E1DB79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596" y="2694313"/>
            <a:ext cx="4251571" cy="204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04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ctrTitle"/>
          </p:nvPr>
        </p:nvSpPr>
        <p:spPr>
          <a:xfrm>
            <a:off x="311700" y="76200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Aplicações das Métricas : Cenários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68;p31">
            <a:extLst>
              <a:ext uri="{FF2B5EF4-FFF2-40B4-BE49-F238E27FC236}">
                <a16:creationId xmlns:a16="http://schemas.microsoft.com/office/drawing/2014/main" id="{75409C8B-9A11-4498-87C3-54A4FA6A0073}"/>
              </a:ext>
            </a:extLst>
          </p:cNvPr>
          <p:cNvSpPr txBox="1">
            <a:spLocks/>
          </p:cNvSpPr>
          <p:nvPr/>
        </p:nvSpPr>
        <p:spPr>
          <a:xfrm>
            <a:off x="311700" y="324381"/>
            <a:ext cx="5476898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pt-BR" sz="16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Cenário 3 – Escolas em que a qualidade está caindo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77C476-F431-4DF9-B777-7173001A941B}"/>
                  </a:ext>
                </a:extLst>
              </p:cNvPr>
              <p:cNvSpPr txBox="1"/>
              <p:nvPr/>
            </p:nvSpPr>
            <p:spPr>
              <a:xfrm>
                <a:off x="1143806" y="877328"/>
                <a:ext cx="287698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𝒊𝒏𝒅𝒊𝒄𝒆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𝒅𝒆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𝒅𝒊𝒔𝒑𝒂𝒓𝒊𝒅𝒂𝒅𝒆</m:t>
                    </m:r>
                    <m:r>
                      <a:rPr lang="en-US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pt-BR" sz="1200" b="1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𝒕𝒂𝒙𝒂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𝒅𝒆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𝒑𝒓𝒐𝒈𝒓𝒆𝒔𝒔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ã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𝒐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sz="12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pt-BR" sz="1200" b="1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endParaRPr lang="pt-BR" sz="1200" b="1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77C476-F431-4DF9-B777-7173001A9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806" y="877328"/>
                <a:ext cx="2876980" cy="553998"/>
              </a:xfrm>
              <a:prstGeom prst="rect">
                <a:avLst/>
              </a:prstGeom>
              <a:blipFill>
                <a:blip r:embed="rId3"/>
                <a:stretch>
                  <a:fillRect l="-3178" t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7D64C4F-5C0F-41E9-9170-479E21CEFE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156"/>
          <a:stretch/>
        </p:blipFill>
        <p:spPr>
          <a:xfrm>
            <a:off x="4705164" y="2994128"/>
            <a:ext cx="4438835" cy="21493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0F11CD-7742-4896-8719-EF4DD6869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505" y="1431326"/>
            <a:ext cx="3710866" cy="17948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A9E152-FB27-4BDF-A74E-202CB911AF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505" y="3417903"/>
            <a:ext cx="3777137" cy="172559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ABE2F47-7F85-4C9F-9BF9-7E27333313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5164" y="1026346"/>
            <a:ext cx="4404213" cy="224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92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ctrTitle"/>
          </p:nvPr>
        </p:nvSpPr>
        <p:spPr>
          <a:xfrm>
            <a:off x="311700" y="76200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Aplicações das Métricas : Cenários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68;p31">
            <a:extLst>
              <a:ext uri="{FF2B5EF4-FFF2-40B4-BE49-F238E27FC236}">
                <a16:creationId xmlns:a16="http://schemas.microsoft.com/office/drawing/2014/main" id="{75409C8B-9A11-4498-87C3-54A4FA6A0073}"/>
              </a:ext>
            </a:extLst>
          </p:cNvPr>
          <p:cNvSpPr txBox="1">
            <a:spLocks/>
          </p:cNvSpPr>
          <p:nvPr/>
        </p:nvSpPr>
        <p:spPr>
          <a:xfrm>
            <a:off x="311700" y="366198"/>
            <a:ext cx="4260300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pt-BR" sz="16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Cenário 4 – Escolas com flag de atenção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7D4090-BB10-49BF-B01E-BFE2242FD4ED}"/>
                  </a:ext>
                </a:extLst>
              </p:cNvPr>
              <p:cNvSpPr txBox="1"/>
              <p:nvPr/>
            </p:nvSpPr>
            <p:spPr>
              <a:xfrm>
                <a:off x="311700" y="988834"/>
                <a:ext cx="318610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Podemos definir uma flag de atenção ao considerar as escolas com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𝑖𝑛𝑑𝑖𝑐𝑒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𝑑𝑖𝑠𝑝𝑎𝑟𝑖𝑑𝑎𝑑𝑒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 que significa existir um comportamento divergente entre os alunos do ano inicial e final: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7D4090-BB10-49BF-B01E-BFE2242FD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00" y="988834"/>
                <a:ext cx="3186102" cy="1384995"/>
              </a:xfrm>
              <a:prstGeom prst="rect">
                <a:avLst/>
              </a:prstGeom>
              <a:blipFill>
                <a:blip r:embed="rId3"/>
                <a:stretch>
                  <a:fillRect l="-191" t="-881" b="-3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0EAEB23-861F-44B1-B1AB-D3ED84B7B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2867359"/>
            <a:ext cx="4572000" cy="21210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3A3ACC-9BF2-4449-8696-E088B890C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9" y="2729436"/>
            <a:ext cx="4178611" cy="208498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9679104-3CAB-42F1-BC7E-CF297E0453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4611" y="667581"/>
            <a:ext cx="4457700" cy="219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80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ctrTitle"/>
          </p:nvPr>
        </p:nvSpPr>
        <p:spPr>
          <a:xfrm>
            <a:off x="311700" y="76200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Caracterização dos Cenários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68;p31">
            <a:extLst>
              <a:ext uri="{FF2B5EF4-FFF2-40B4-BE49-F238E27FC236}">
                <a16:creationId xmlns:a16="http://schemas.microsoft.com/office/drawing/2014/main" id="{75409C8B-9A11-4498-87C3-54A4FA6A0073}"/>
              </a:ext>
            </a:extLst>
          </p:cNvPr>
          <p:cNvSpPr txBox="1">
            <a:spLocks/>
          </p:cNvSpPr>
          <p:nvPr/>
        </p:nvSpPr>
        <p:spPr>
          <a:xfrm>
            <a:off x="369266" y="354450"/>
            <a:ext cx="5432152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pt-BR" sz="16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Variável – Escolas que oferecem Ensino Integral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7792F4-D797-44BA-A2C8-3699B5A3C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55" y="1646086"/>
            <a:ext cx="4468289" cy="26118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EA99B1-AAEF-4788-AA6A-A767F46F2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171" y="4342101"/>
            <a:ext cx="1334620" cy="4559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92AED9-6DAF-4357-8695-D2825C986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722" y="1846947"/>
            <a:ext cx="4257278" cy="24110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6CBA72-2717-4C93-9F18-5E4F9CEB51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7699" y="4257956"/>
            <a:ext cx="927437" cy="42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178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B136F147-27D1-4845-B135-EFCE61E10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715098">
            <a:off x="8502380" y="1653776"/>
            <a:ext cx="260790" cy="236145"/>
          </a:xfrm>
          <a:prstGeom prst="rect">
            <a:avLst/>
          </a:prstGeom>
        </p:spPr>
      </p:pic>
      <p:sp>
        <p:nvSpPr>
          <p:cNvPr id="168" name="Google Shape;168;p31"/>
          <p:cNvSpPr txBox="1">
            <a:spLocks noGrp="1"/>
          </p:cNvSpPr>
          <p:nvPr>
            <p:ph type="ctrTitle"/>
          </p:nvPr>
        </p:nvSpPr>
        <p:spPr>
          <a:xfrm>
            <a:off x="311700" y="76200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Caracterização dos Cenários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68;p31">
            <a:extLst>
              <a:ext uri="{FF2B5EF4-FFF2-40B4-BE49-F238E27FC236}">
                <a16:creationId xmlns:a16="http://schemas.microsoft.com/office/drawing/2014/main" id="{75409C8B-9A11-4498-87C3-54A4FA6A0073}"/>
              </a:ext>
            </a:extLst>
          </p:cNvPr>
          <p:cNvSpPr txBox="1">
            <a:spLocks/>
          </p:cNvSpPr>
          <p:nvPr/>
        </p:nvSpPr>
        <p:spPr>
          <a:xfrm>
            <a:off x="369266" y="632700"/>
            <a:ext cx="5809592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pt-BR" sz="16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Variável – Escolas que oferecem atividades ao final de semana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332C71-B2BD-478B-8297-FA2949D20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6" y="1636291"/>
            <a:ext cx="5997837" cy="282502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369B93D-9D39-4D89-8941-9724F79FE41E}"/>
              </a:ext>
            </a:extLst>
          </p:cNvPr>
          <p:cNvGrpSpPr/>
          <p:nvPr/>
        </p:nvGrpSpPr>
        <p:grpSpPr>
          <a:xfrm>
            <a:off x="7001649" y="1665066"/>
            <a:ext cx="1830651" cy="2302777"/>
            <a:chOff x="7001649" y="1665066"/>
            <a:chExt cx="1830651" cy="230277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78B42CD-BCD5-453E-A398-C5AA2238C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8715098">
              <a:off x="6989327" y="1677388"/>
              <a:ext cx="260790" cy="236145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81694F8-1AEF-47A0-8C8F-AC9B6C71FEAA}"/>
                </a:ext>
              </a:extLst>
            </p:cNvPr>
            <p:cNvGrpSpPr/>
            <p:nvPr/>
          </p:nvGrpSpPr>
          <p:grpSpPr>
            <a:xfrm>
              <a:off x="7006694" y="1771849"/>
              <a:ext cx="1825606" cy="2195994"/>
              <a:chOff x="-16296" y="1154713"/>
              <a:chExt cx="4012298" cy="2395779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3E40C986-419A-4AC3-9690-923D1B1C6CE5}"/>
                  </a:ext>
                </a:extLst>
              </p:cNvPr>
              <p:cNvGrpSpPr/>
              <p:nvPr/>
            </p:nvGrpSpPr>
            <p:grpSpPr>
              <a:xfrm>
                <a:off x="-16296" y="1154713"/>
                <a:ext cx="4012298" cy="2395779"/>
                <a:chOff x="4754478" y="1972737"/>
                <a:chExt cx="4012298" cy="2395779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384DB31-A366-4DF5-BA48-436D7DE5432C}"/>
                    </a:ext>
                  </a:extLst>
                </p:cNvPr>
                <p:cNvSpPr txBox="1"/>
                <p:nvPr/>
              </p:nvSpPr>
              <p:spPr>
                <a:xfrm>
                  <a:off x="5002889" y="2159816"/>
                  <a:ext cx="3763887" cy="6048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Contribui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para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menor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taxa de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evasão</a:t>
                  </a:r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B25A6EB8-5C2F-432D-BA53-7176D7A33AB0}"/>
                    </a:ext>
                  </a:extLst>
                </p:cNvPr>
                <p:cNvSpPr/>
                <p:nvPr/>
              </p:nvSpPr>
              <p:spPr>
                <a:xfrm>
                  <a:off x="4754478" y="1972737"/>
                  <a:ext cx="3958334" cy="2395779"/>
                </a:xfrm>
                <a:prstGeom prst="rect">
                  <a:avLst/>
                </a:prstGeom>
                <a:noFill/>
                <a:ln w="19050">
                  <a:solidFill>
                    <a:srgbClr val="12D47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F5B824-8D45-4155-B8DE-E27BF41D918D}"/>
                  </a:ext>
                </a:extLst>
              </p:cNvPr>
              <p:cNvSpPr txBox="1"/>
              <p:nvPr/>
            </p:nvSpPr>
            <p:spPr>
              <a:xfrm>
                <a:off x="178151" y="2247982"/>
                <a:ext cx="3763886" cy="1040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Introduzir formas não tradicionais de aprendizagem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1054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ctrTitle"/>
          </p:nvPr>
        </p:nvSpPr>
        <p:spPr>
          <a:xfrm>
            <a:off x="311700" y="76200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Caracterização dos Cenários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68;p31">
            <a:extLst>
              <a:ext uri="{FF2B5EF4-FFF2-40B4-BE49-F238E27FC236}">
                <a16:creationId xmlns:a16="http://schemas.microsoft.com/office/drawing/2014/main" id="{75409C8B-9A11-4498-87C3-54A4FA6A0073}"/>
              </a:ext>
            </a:extLst>
          </p:cNvPr>
          <p:cNvSpPr txBox="1">
            <a:spLocks/>
          </p:cNvSpPr>
          <p:nvPr/>
        </p:nvSpPr>
        <p:spPr>
          <a:xfrm>
            <a:off x="369266" y="632700"/>
            <a:ext cx="5809592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pt-BR" sz="16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Variável – Proporção matrículas/professor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274D3C-6D3F-4DFA-8AAC-F10691E93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8730"/>
            <a:ext cx="7066625" cy="33837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BF61EA-4BC4-4903-8406-D59F8D7D8726}"/>
                  </a:ext>
                </a:extLst>
              </p:cNvPr>
              <p:cNvSpPr txBox="1"/>
              <p:nvPr/>
            </p:nvSpPr>
            <p:spPr>
              <a:xfrm>
                <a:off x="772357" y="2110082"/>
                <a:ext cx="9410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=18.3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BF61EA-4BC4-4903-8406-D59F8D7D8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57" y="2110082"/>
                <a:ext cx="941033" cy="307777"/>
              </a:xfrm>
              <a:prstGeom prst="rect">
                <a:avLst/>
              </a:prstGeom>
              <a:blipFill>
                <a:blip r:embed="rId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E20B08-9714-471B-A90C-02082B28F031}"/>
                  </a:ext>
                </a:extLst>
              </p:cNvPr>
              <p:cNvSpPr txBox="1"/>
              <p:nvPr/>
            </p:nvSpPr>
            <p:spPr>
              <a:xfrm>
                <a:off x="2073685" y="2110082"/>
                <a:ext cx="9410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=21.8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E20B08-9714-471B-A90C-02082B28F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685" y="2110082"/>
                <a:ext cx="941033" cy="307777"/>
              </a:xfrm>
              <a:prstGeom prst="rect">
                <a:avLst/>
              </a:prstGeom>
              <a:blipFill>
                <a:blip r:embed="rId5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C608697-0C86-4096-A54E-497F5DD52DE3}"/>
                  </a:ext>
                </a:extLst>
              </p:cNvPr>
              <p:cNvSpPr txBox="1"/>
              <p:nvPr/>
            </p:nvSpPr>
            <p:spPr>
              <a:xfrm>
                <a:off x="3392728" y="2100084"/>
                <a:ext cx="9410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=19.7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C608697-0C86-4096-A54E-497F5DD52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728" y="2100084"/>
                <a:ext cx="941033" cy="307777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7E6833E-1CDC-4F73-A0E5-F2A54ACCD892}"/>
                  </a:ext>
                </a:extLst>
              </p:cNvPr>
              <p:cNvSpPr txBox="1"/>
              <p:nvPr/>
            </p:nvSpPr>
            <p:spPr>
              <a:xfrm>
                <a:off x="4711771" y="2100084"/>
                <a:ext cx="9410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=19.6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7E6833E-1CDC-4F73-A0E5-F2A54ACCD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771" y="2100084"/>
                <a:ext cx="941033" cy="307777"/>
              </a:xfrm>
              <a:prstGeom prst="rect">
                <a:avLst/>
              </a:prstGeom>
              <a:blipFill>
                <a:blip r:embed="rId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6A05090F-10FE-4146-9978-C0627A08229C}"/>
              </a:ext>
            </a:extLst>
          </p:cNvPr>
          <p:cNvGrpSpPr/>
          <p:nvPr/>
        </p:nvGrpSpPr>
        <p:grpSpPr>
          <a:xfrm>
            <a:off x="7231918" y="1674869"/>
            <a:ext cx="1756814" cy="2219883"/>
            <a:chOff x="7276306" y="1781401"/>
            <a:chExt cx="1756814" cy="2219883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F24F494-60C7-4A7E-A702-5B2DB069E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8715098">
              <a:off x="8776523" y="1793723"/>
              <a:ext cx="260790" cy="236145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656BFE4-3A90-4644-8B64-027E06655446}"/>
                </a:ext>
              </a:extLst>
            </p:cNvPr>
            <p:cNvGrpSpPr/>
            <p:nvPr/>
          </p:nvGrpSpPr>
          <p:grpSpPr>
            <a:xfrm>
              <a:off x="7276306" y="1787181"/>
              <a:ext cx="1756814" cy="2214103"/>
              <a:chOff x="7050931" y="1753739"/>
              <a:chExt cx="1756814" cy="2214103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9AC2275-DAB9-4167-B0EA-2593AA60AA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18715098">
                <a:off x="7088556" y="1766061"/>
                <a:ext cx="260790" cy="236145"/>
              </a:xfrm>
              <a:prstGeom prst="rect">
                <a:avLst/>
              </a:prstGeom>
            </p:spPr>
          </p:pic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F27B902-A157-4082-80E7-25B247A08FD6}"/>
                  </a:ext>
                </a:extLst>
              </p:cNvPr>
              <p:cNvGrpSpPr/>
              <p:nvPr/>
            </p:nvGrpSpPr>
            <p:grpSpPr>
              <a:xfrm>
                <a:off x="7050931" y="1884134"/>
                <a:ext cx="1756814" cy="2083708"/>
                <a:chOff x="4851702" y="2095238"/>
                <a:chExt cx="3861108" cy="2273278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052AF6C-6E51-4FA0-9CF8-44B0CF898B2A}"/>
                    </a:ext>
                  </a:extLst>
                </p:cNvPr>
                <p:cNvSpPr txBox="1"/>
                <p:nvPr/>
              </p:nvSpPr>
              <p:spPr>
                <a:xfrm>
                  <a:off x="4851702" y="2600839"/>
                  <a:ext cx="3763886" cy="10409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Esta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varíável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não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é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determinante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para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caracterizar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os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cenários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D14BA5CD-F3F3-4B35-A8A5-3BFB85BFB0D2}"/>
                    </a:ext>
                  </a:extLst>
                </p:cNvPr>
                <p:cNvSpPr/>
                <p:nvPr/>
              </p:nvSpPr>
              <p:spPr>
                <a:xfrm>
                  <a:off x="4935484" y="2095238"/>
                  <a:ext cx="3777326" cy="2273278"/>
                </a:xfrm>
                <a:prstGeom prst="rect">
                  <a:avLst/>
                </a:prstGeom>
                <a:noFill/>
                <a:ln w="19050">
                  <a:solidFill>
                    <a:srgbClr val="12D47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52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0E6416-52A0-45E2-8201-A60EA4C7C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0" y="1585902"/>
            <a:ext cx="6622700" cy="3144934"/>
          </a:xfrm>
          <a:prstGeom prst="rect">
            <a:avLst/>
          </a:prstGeom>
        </p:spPr>
      </p:pic>
      <p:sp>
        <p:nvSpPr>
          <p:cNvPr id="168" name="Google Shape;168;p31"/>
          <p:cNvSpPr txBox="1">
            <a:spLocks noGrp="1"/>
          </p:cNvSpPr>
          <p:nvPr>
            <p:ph type="ctrTitle"/>
          </p:nvPr>
        </p:nvSpPr>
        <p:spPr>
          <a:xfrm>
            <a:off x="311700" y="76200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Caracterização dos Cenários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68;p31">
            <a:extLst>
              <a:ext uri="{FF2B5EF4-FFF2-40B4-BE49-F238E27FC236}">
                <a16:creationId xmlns:a16="http://schemas.microsoft.com/office/drawing/2014/main" id="{75409C8B-9A11-4498-87C3-54A4FA6A0073}"/>
              </a:ext>
            </a:extLst>
          </p:cNvPr>
          <p:cNvSpPr txBox="1">
            <a:spLocks/>
          </p:cNvSpPr>
          <p:nvPr/>
        </p:nvSpPr>
        <p:spPr>
          <a:xfrm>
            <a:off x="369266" y="632700"/>
            <a:ext cx="5809592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pt-BR" sz="16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Variável – Proporção professor/turma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BF61EA-4BC4-4903-8406-D59F8D7D8726}"/>
                  </a:ext>
                </a:extLst>
              </p:cNvPr>
              <p:cNvSpPr txBox="1"/>
              <p:nvPr/>
            </p:nvSpPr>
            <p:spPr>
              <a:xfrm>
                <a:off x="796645" y="2311679"/>
                <a:ext cx="9410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=1.26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BF61EA-4BC4-4903-8406-D59F8D7D8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45" y="2311679"/>
                <a:ext cx="941033" cy="307777"/>
              </a:xfrm>
              <a:prstGeom prst="rect">
                <a:avLst/>
              </a:prstGeom>
              <a:blipFill>
                <a:blip r:embed="rId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E20B08-9714-471B-A90C-02082B28F031}"/>
                  </a:ext>
                </a:extLst>
              </p:cNvPr>
              <p:cNvSpPr txBox="1"/>
              <p:nvPr/>
            </p:nvSpPr>
            <p:spPr>
              <a:xfrm>
                <a:off x="2058402" y="2287820"/>
                <a:ext cx="9410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=1.22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E20B08-9714-471B-A90C-02082B28F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402" y="2287820"/>
                <a:ext cx="941033" cy="307777"/>
              </a:xfrm>
              <a:prstGeom prst="rect">
                <a:avLst/>
              </a:prstGeom>
              <a:blipFill>
                <a:blip r:embed="rId5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C608697-0C86-4096-A54E-497F5DD52DE3}"/>
                  </a:ext>
                </a:extLst>
              </p:cNvPr>
              <p:cNvSpPr txBox="1"/>
              <p:nvPr/>
            </p:nvSpPr>
            <p:spPr>
              <a:xfrm>
                <a:off x="3385596" y="2280554"/>
                <a:ext cx="9410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=1.26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C608697-0C86-4096-A54E-497F5DD52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596" y="2280554"/>
                <a:ext cx="941033" cy="307777"/>
              </a:xfrm>
              <a:prstGeom prst="rect">
                <a:avLst/>
              </a:prstGeom>
              <a:blipFill>
                <a:blip r:embed="rId6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7E6833E-1CDC-4F73-A0E5-F2A54ACCD892}"/>
                  </a:ext>
                </a:extLst>
              </p:cNvPr>
              <p:cNvSpPr txBox="1"/>
              <p:nvPr/>
            </p:nvSpPr>
            <p:spPr>
              <a:xfrm>
                <a:off x="4582113" y="2274483"/>
                <a:ext cx="9410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=1.25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7E6833E-1CDC-4F73-A0E5-F2A54ACCD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113" y="2274483"/>
                <a:ext cx="941033" cy="307777"/>
              </a:xfrm>
              <a:prstGeom prst="rect">
                <a:avLst/>
              </a:prstGeom>
              <a:blipFill>
                <a:blip r:embed="rId7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D7163FD4-72E1-4C6D-8411-0CFC9E66F144}"/>
              </a:ext>
            </a:extLst>
          </p:cNvPr>
          <p:cNvGrpSpPr/>
          <p:nvPr/>
        </p:nvGrpSpPr>
        <p:grpSpPr>
          <a:xfrm>
            <a:off x="7182636" y="1568521"/>
            <a:ext cx="1806097" cy="2326232"/>
            <a:chOff x="7227024" y="1675053"/>
            <a:chExt cx="1806097" cy="232623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94588BD-55FC-4526-B557-2A695DDC8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8715098">
              <a:off x="8772825" y="1687375"/>
              <a:ext cx="260790" cy="236145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858A10-A9C8-48DE-9048-0013FCE833F4}"/>
                </a:ext>
              </a:extLst>
            </p:cNvPr>
            <p:cNvGrpSpPr/>
            <p:nvPr/>
          </p:nvGrpSpPr>
          <p:grpSpPr>
            <a:xfrm>
              <a:off x="7227024" y="1698508"/>
              <a:ext cx="1806097" cy="2302777"/>
              <a:chOff x="7001649" y="1665066"/>
              <a:chExt cx="1806097" cy="2302777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EE06044C-7C09-4685-A670-2E71EEE357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18715098">
                <a:off x="6989327" y="1677388"/>
                <a:ext cx="260790" cy="236145"/>
              </a:xfrm>
              <a:prstGeom prst="rect">
                <a:avLst/>
              </a:prstGeom>
            </p:spPr>
          </p:pic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4DF2E5F-5AFF-4976-92C1-995EABA31C51}"/>
                  </a:ext>
                </a:extLst>
              </p:cNvPr>
              <p:cNvGrpSpPr/>
              <p:nvPr/>
            </p:nvGrpSpPr>
            <p:grpSpPr>
              <a:xfrm>
                <a:off x="7006694" y="1771849"/>
                <a:ext cx="1801052" cy="2195994"/>
                <a:chOff x="4754478" y="1972737"/>
                <a:chExt cx="3958334" cy="2395779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1E3412A-69CD-4E79-A8BE-4ED80AAAFCC9}"/>
                    </a:ext>
                  </a:extLst>
                </p:cNvPr>
                <p:cNvSpPr txBox="1"/>
                <p:nvPr/>
              </p:nvSpPr>
              <p:spPr>
                <a:xfrm>
                  <a:off x="4851702" y="2600839"/>
                  <a:ext cx="3763886" cy="10409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Esta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varíável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não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é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determinante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para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caracterizar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os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cenários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8214C53-2E2C-4147-9D8E-63DC22E0BA87}"/>
                    </a:ext>
                  </a:extLst>
                </p:cNvPr>
                <p:cNvSpPr/>
                <p:nvPr/>
              </p:nvSpPr>
              <p:spPr>
                <a:xfrm>
                  <a:off x="4754478" y="1972737"/>
                  <a:ext cx="3958334" cy="2395779"/>
                </a:xfrm>
                <a:prstGeom prst="rect">
                  <a:avLst/>
                </a:prstGeom>
                <a:noFill/>
                <a:ln w="19050">
                  <a:solidFill>
                    <a:srgbClr val="12D47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2888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19</a:t>
            </a:fld>
            <a:endParaRPr/>
          </a:p>
        </p:txBody>
      </p:sp>
      <p:cxnSp>
        <p:nvCxnSpPr>
          <p:cNvPr id="174" name="Google Shape;174;p32"/>
          <p:cNvCxnSpPr/>
          <p:nvPr/>
        </p:nvCxnSpPr>
        <p:spPr>
          <a:xfrm>
            <a:off x="0" y="569200"/>
            <a:ext cx="91659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32"/>
          <p:cNvSpPr txBox="1"/>
          <p:nvPr/>
        </p:nvSpPr>
        <p:spPr>
          <a:xfrm>
            <a:off x="240275" y="-7050"/>
            <a:ext cx="51258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/>
              <a:t>Introdução</a:t>
            </a:r>
            <a:endParaRPr sz="2400" b="1"/>
          </a:p>
        </p:txBody>
      </p:sp>
      <p:pic>
        <p:nvPicPr>
          <p:cNvPr id="176" name="Google Shape;176;p32" descr="https://8nuwa2vbpd427a7jp9r7di13-wpengine.netdna-ssl.com/wp-content/uploads/2017/09/checklist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5" y="0"/>
            <a:ext cx="9132846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2"/>
          <p:cNvPicPr preferRelativeResize="0"/>
          <p:nvPr/>
        </p:nvPicPr>
        <p:blipFill rotWithShape="1">
          <a:blip r:embed="rId4">
            <a:alphaModFix amt="83000"/>
          </a:blip>
          <a:srcRect/>
          <a:stretch/>
        </p:blipFill>
        <p:spPr>
          <a:xfrm>
            <a:off x="0" y="0"/>
            <a:ext cx="9250883" cy="5486398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noFill/>
          </a:ln>
        </p:spPr>
      </p:pic>
      <p:sp>
        <p:nvSpPr>
          <p:cNvPr id="178" name="Google Shape;178;p32"/>
          <p:cNvSpPr/>
          <p:nvPr/>
        </p:nvSpPr>
        <p:spPr>
          <a:xfrm rot="-5400000">
            <a:off x="6531975" y="1697650"/>
            <a:ext cx="1704900" cy="565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78256"/>
              </a:gs>
              <a:gs pos="100000">
                <a:srgbClr val="29BA7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5508525" y="3823075"/>
            <a:ext cx="3645900" cy="12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pt-BR" sz="31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Conclusões</a:t>
            </a:r>
            <a:endParaRPr sz="3100" b="1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4681227" y="3823066"/>
            <a:ext cx="932700" cy="12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F237"/>
              </a:buClr>
              <a:buSzPts val="8000"/>
              <a:buFont typeface="Arial"/>
              <a:buNone/>
            </a:pPr>
            <a:r>
              <a:rPr lang="pt-BR" sz="7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7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64555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49D8333-3169-4CCF-88CC-0827C9850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715098">
            <a:off x="2174947" y="780243"/>
            <a:ext cx="392226" cy="335350"/>
          </a:xfrm>
          <a:prstGeom prst="rect">
            <a:avLst/>
          </a:prstGeom>
        </p:spPr>
      </p:pic>
      <p:sp>
        <p:nvSpPr>
          <p:cNvPr id="185" name="Google Shape;185;p33"/>
          <p:cNvSpPr txBox="1">
            <a:spLocks noGrp="1"/>
          </p:cNvSpPr>
          <p:nvPr>
            <p:ph type="ctrTitle"/>
          </p:nvPr>
        </p:nvSpPr>
        <p:spPr>
          <a:xfrm>
            <a:off x="311700" y="76200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Conclusões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F1F007-4DC7-44A8-A75F-03EF8D690731}"/>
              </a:ext>
            </a:extLst>
          </p:cNvPr>
          <p:cNvGrpSpPr/>
          <p:nvPr/>
        </p:nvGrpSpPr>
        <p:grpSpPr>
          <a:xfrm>
            <a:off x="119729" y="754708"/>
            <a:ext cx="2433279" cy="4020921"/>
            <a:chOff x="44033" y="1054809"/>
            <a:chExt cx="4017493" cy="249323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195DB45-60D4-475C-BB6B-800EFC8FB924}"/>
                </a:ext>
              </a:extLst>
            </p:cNvPr>
            <p:cNvGrpSpPr/>
            <p:nvPr/>
          </p:nvGrpSpPr>
          <p:grpSpPr>
            <a:xfrm>
              <a:off x="44033" y="1054809"/>
              <a:ext cx="4017493" cy="2493230"/>
              <a:chOff x="19877" y="1090320"/>
              <a:chExt cx="4017493" cy="249323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A0BB91BA-375A-4F00-A96D-56EB82EC47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8715098">
                <a:off x="178113" y="932084"/>
                <a:ext cx="247901" cy="564374"/>
              </a:xfrm>
              <a:prstGeom prst="rect">
                <a:avLst/>
              </a:prstGeom>
            </p:spPr>
          </p:pic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0168B54-608C-465F-A323-A9599CB7E819}"/>
                  </a:ext>
                </a:extLst>
              </p:cNvPr>
              <p:cNvGrpSpPr/>
              <p:nvPr/>
            </p:nvGrpSpPr>
            <p:grpSpPr>
              <a:xfrm>
                <a:off x="79036" y="1187771"/>
                <a:ext cx="3958334" cy="2395779"/>
                <a:chOff x="4873966" y="1970284"/>
                <a:chExt cx="3958334" cy="2395779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017FAF9-78A4-41E9-912D-5CD76280AB5B}"/>
                    </a:ext>
                  </a:extLst>
                </p:cNvPr>
                <p:cNvSpPr txBox="1"/>
                <p:nvPr/>
              </p:nvSpPr>
              <p:spPr>
                <a:xfrm>
                  <a:off x="4971309" y="2082384"/>
                  <a:ext cx="3763887" cy="11259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As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métricas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e a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metodologia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descritas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são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capazes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de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capturar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informações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relevantes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partir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das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séries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históricas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de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Ideb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de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uma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escola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</a:p>
                <a:p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2B9D1CB-F432-46E6-B271-902C1AE3CBD2}"/>
                    </a:ext>
                  </a:extLst>
                </p:cNvPr>
                <p:cNvSpPr/>
                <p:nvPr/>
              </p:nvSpPr>
              <p:spPr>
                <a:xfrm>
                  <a:off x="4873966" y="1970284"/>
                  <a:ext cx="3958334" cy="2395779"/>
                </a:xfrm>
                <a:prstGeom prst="rect">
                  <a:avLst/>
                </a:prstGeom>
                <a:noFill/>
                <a:ln w="19050">
                  <a:solidFill>
                    <a:srgbClr val="12D47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2407EB9-075F-4B02-80BF-2650F4A405D1}"/>
                </a:ext>
              </a:extLst>
            </p:cNvPr>
            <p:cNvSpPr txBox="1"/>
            <p:nvPr/>
          </p:nvSpPr>
          <p:spPr>
            <a:xfrm>
              <a:off x="200535" y="2251361"/>
              <a:ext cx="3763887" cy="1125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É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possível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definir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cenários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com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diferentes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níveis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de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desenvolvimento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educação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existem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variáveis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significativas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que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caracterizam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estes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cenários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72AC909-5B0C-4901-A775-3389CC593138}"/>
              </a:ext>
            </a:extLst>
          </p:cNvPr>
          <p:cNvSpPr txBox="1"/>
          <p:nvPr/>
        </p:nvSpPr>
        <p:spPr>
          <a:xfrm>
            <a:off x="2823970" y="2215324"/>
            <a:ext cx="2325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índice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disparidade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0.65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8EBB6-F54E-4409-8411-324F2D9AE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690" y="76200"/>
            <a:ext cx="4099770" cy="21139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BB2B75-2584-4B79-B559-FFD28AA56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1690" y="2631381"/>
            <a:ext cx="4198703" cy="20153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D72EA03-CCD1-4278-93E7-F68762DC4D7D}"/>
              </a:ext>
            </a:extLst>
          </p:cNvPr>
          <p:cNvSpPr txBox="1"/>
          <p:nvPr/>
        </p:nvSpPr>
        <p:spPr>
          <a:xfrm>
            <a:off x="4891161" y="2215323"/>
            <a:ext cx="2325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crescimento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inicial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1.0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2A7F6A-5E91-46A4-B786-82BACAA0D952}"/>
              </a:ext>
            </a:extLst>
          </p:cNvPr>
          <p:cNvSpPr txBox="1"/>
          <p:nvPr/>
        </p:nvSpPr>
        <p:spPr>
          <a:xfrm>
            <a:off x="6818921" y="2213479"/>
            <a:ext cx="2325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crescimento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: 1.03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1669A4-4B87-43B8-ACCE-63FD7DD039F6}"/>
              </a:ext>
            </a:extLst>
          </p:cNvPr>
          <p:cNvSpPr txBox="1"/>
          <p:nvPr/>
        </p:nvSpPr>
        <p:spPr>
          <a:xfrm>
            <a:off x="3606496" y="4743854"/>
            <a:ext cx="2325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taxa de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progressão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-0.04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1B5D79-2E4A-4E86-A123-660B06A9CB31}"/>
              </a:ext>
            </a:extLst>
          </p:cNvPr>
          <p:cNvSpPr txBox="1"/>
          <p:nvPr/>
        </p:nvSpPr>
        <p:spPr>
          <a:xfrm>
            <a:off x="6053700" y="4743855"/>
            <a:ext cx="2325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taxa de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evolução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-0.31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21</a:t>
            </a:fld>
            <a:endParaRPr/>
          </a:p>
        </p:txBody>
      </p:sp>
      <p:cxnSp>
        <p:nvCxnSpPr>
          <p:cNvPr id="174" name="Google Shape;174;p32"/>
          <p:cNvCxnSpPr/>
          <p:nvPr/>
        </p:nvCxnSpPr>
        <p:spPr>
          <a:xfrm>
            <a:off x="0" y="569200"/>
            <a:ext cx="91659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32"/>
          <p:cNvSpPr txBox="1"/>
          <p:nvPr/>
        </p:nvSpPr>
        <p:spPr>
          <a:xfrm>
            <a:off x="240275" y="-7050"/>
            <a:ext cx="51258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/>
              <a:t>Introdução</a:t>
            </a:r>
            <a:endParaRPr sz="2400" b="1"/>
          </a:p>
        </p:txBody>
      </p:sp>
      <p:pic>
        <p:nvPicPr>
          <p:cNvPr id="176" name="Google Shape;176;p32" descr="https://8nuwa2vbpd427a7jp9r7di13-wpengine.netdna-ssl.com/wp-content/uploads/2017/09/checklist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5" y="0"/>
            <a:ext cx="9132846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2"/>
          <p:cNvPicPr preferRelativeResize="0"/>
          <p:nvPr/>
        </p:nvPicPr>
        <p:blipFill rotWithShape="1">
          <a:blip r:embed="rId4">
            <a:alphaModFix amt="83000"/>
          </a:blip>
          <a:srcRect/>
          <a:stretch/>
        </p:blipFill>
        <p:spPr>
          <a:xfrm>
            <a:off x="0" y="0"/>
            <a:ext cx="9250883" cy="5486398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noFill/>
          </a:ln>
        </p:spPr>
      </p:pic>
      <p:sp>
        <p:nvSpPr>
          <p:cNvPr id="178" name="Google Shape;178;p32"/>
          <p:cNvSpPr/>
          <p:nvPr/>
        </p:nvSpPr>
        <p:spPr>
          <a:xfrm rot="-5400000">
            <a:off x="6531975" y="1697650"/>
            <a:ext cx="1704900" cy="5652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78256"/>
              </a:gs>
              <a:gs pos="100000">
                <a:srgbClr val="29BA7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5508525" y="3823075"/>
            <a:ext cx="3645900" cy="12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pt-BR" sz="3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Recomendações</a:t>
            </a:r>
            <a:endParaRPr sz="3100" b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4681227" y="3823066"/>
            <a:ext cx="932700" cy="12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1F237"/>
              </a:buClr>
              <a:buSzPts val="8000"/>
              <a:buFont typeface="Arial"/>
              <a:buNone/>
            </a:pPr>
            <a:r>
              <a:rPr lang="pt-BR" sz="7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7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8839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ctrTitle"/>
          </p:nvPr>
        </p:nvSpPr>
        <p:spPr>
          <a:xfrm>
            <a:off x="311700" y="49567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Recomendações : Traçando novas metas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AE30AE-E73F-436A-8A4C-193ACC564F17}"/>
              </a:ext>
            </a:extLst>
          </p:cNvPr>
          <p:cNvSpPr txBox="1"/>
          <p:nvPr/>
        </p:nvSpPr>
        <p:spPr>
          <a:xfrm>
            <a:off x="1401820" y="874307"/>
            <a:ext cx="73950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Estabelecer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um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nível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adequado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aprendizagem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fluxo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escolar.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superior a 6,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nível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países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membros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OCDE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C35073-133C-4374-8E28-793EBD706996}"/>
              </a:ext>
            </a:extLst>
          </p:cNvPr>
          <p:cNvGrpSpPr/>
          <p:nvPr/>
        </p:nvGrpSpPr>
        <p:grpSpPr>
          <a:xfrm>
            <a:off x="219398" y="866060"/>
            <a:ext cx="913549" cy="861261"/>
            <a:chOff x="219398" y="866060"/>
            <a:chExt cx="913549" cy="86126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B49BB5E-3B16-4D12-82CC-E18A0AC68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398" y="866060"/>
              <a:ext cx="537746" cy="506223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57015C9-BCFC-47D4-8DCD-C7B579EDF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8271" y="1017244"/>
              <a:ext cx="644676" cy="710077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CA77D7-ECDF-4BDA-A67A-310BB69F7F4A}"/>
              </a:ext>
            </a:extLst>
          </p:cNvPr>
          <p:cNvGrpSpPr/>
          <p:nvPr/>
        </p:nvGrpSpPr>
        <p:grpSpPr>
          <a:xfrm>
            <a:off x="181068" y="2188661"/>
            <a:ext cx="973584" cy="789137"/>
            <a:chOff x="63275" y="1938089"/>
            <a:chExt cx="973584" cy="78913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1163126-C1C6-4F7C-B0D9-6F8AA3FFD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7428" y="1938089"/>
              <a:ext cx="559431" cy="40081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464DCF-1149-41E0-8FAB-E0005AC36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275" y="2221002"/>
              <a:ext cx="496849" cy="506224"/>
            </a:xfrm>
            <a:prstGeom prst="rect">
              <a:avLst/>
            </a:pr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1DF9B36-96BE-47BF-A0C4-11DECE7AD88E}"/>
              </a:ext>
            </a:extLst>
          </p:cNvPr>
          <p:cNvSpPr txBox="1"/>
          <p:nvPr/>
        </p:nvSpPr>
        <p:spPr>
          <a:xfrm>
            <a:off x="1401817" y="2167118"/>
            <a:ext cx="7395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Garantir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aprendizado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crescimento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positivas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Índice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disparidade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inferior a 5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6870B5-5207-48E5-9BA3-9DDF4010B2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10" y="3513926"/>
            <a:ext cx="905522" cy="82869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CFA7938-7583-4049-9828-FE3E9DA30F56}"/>
              </a:ext>
            </a:extLst>
          </p:cNvPr>
          <p:cNvSpPr txBox="1"/>
          <p:nvPr/>
        </p:nvSpPr>
        <p:spPr>
          <a:xfrm>
            <a:off x="1401818" y="3483123"/>
            <a:ext cx="7395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Garantir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níveis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aprendizado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estão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melhorando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progressivamente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progressão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evolução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positivas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Curvas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Indiretas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amostra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positivamente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correlacionadas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3844D7-44E1-4C76-9A0B-26D759EEEA3B}"/>
              </a:ext>
            </a:extLst>
          </p:cNvPr>
          <p:cNvGrpSpPr/>
          <p:nvPr/>
        </p:nvGrpSpPr>
        <p:grpSpPr>
          <a:xfrm>
            <a:off x="106532" y="800884"/>
            <a:ext cx="8818070" cy="3810347"/>
            <a:chOff x="106532" y="617445"/>
            <a:chExt cx="8818070" cy="381034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1256474-2FF0-4C8D-B1AF-987A22D6D065}"/>
                </a:ext>
              </a:extLst>
            </p:cNvPr>
            <p:cNvSpPr/>
            <p:nvPr/>
          </p:nvSpPr>
          <p:spPr>
            <a:xfrm>
              <a:off x="106532" y="617445"/>
              <a:ext cx="8818070" cy="1171417"/>
            </a:xfrm>
            <a:prstGeom prst="rect">
              <a:avLst/>
            </a:prstGeom>
            <a:noFill/>
            <a:ln>
              <a:solidFill>
                <a:srgbClr val="33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BCB476B-5870-4DA2-8AC2-85117E5CCFB2}"/>
                </a:ext>
              </a:extLst>
            </p:cNvPr>
            <p:cNvSpPr/>
            <p:nvPr/>
          </p:nvSpPr>
          <p:spPr>
            <a:xfrm>
              <a:off x="106532" y="1940046"/>
              <a:ext cx="8818070" cy="1171417"/>
            </a:xfrm>
            <a:prstGeom prst="rect">
              <a:avLst/>
            </a:prstGeom>
            <a:noFill/>
            <a:ln>
              <a:solidFill>
                <a:srgbClr val="33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4F6696C-38E1-480B-A042-521654071E7B}"/>
                </a:ext>
              </a:extLst>
            </p:cNvPr>
            <p:cNvSpPr/>
            <p:nvPr/>
          </p:nvSpPr>
          <p:spPr>
            <a:xfrm>
              <a:off x="106532" y="3256375"/>
              <a:ext cx="8818070" cy="1171417"/>
            </a:xfrm>
            <a:prstGeom prst="rect">
              <a:avLst/>
            </a:prstGeom>
            <a:noFill/>
            <a:ln>
              <a:solidFill>
                <a:srgbClr val="33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71723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ctrTitle"/>
          </p:nvPr>
        </p:nvSpPr>
        <p:spPr>
          <a:xfrm>
            <a:off x="311700" y="49567"/>
            <a:ext cx="8520600" cy="5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pt-BR" sz="3000" b="1" dirty="0">
                <a:solidFill>
                  <a:srgbClr val="2782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Recomendações : Ações mais efetivas</a:t>
            </a:r>
            <a:endParaRPr sz="3000" b="1" dirty="0">
              <a:solidFill>
                <a:srgbClr val="2782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AE30AE-E73F-436A-8A4C-193ACC564F17}"/>
              </a:ext>
            </a:extLst>
          </p:cNvPr>
          <p:cNvSpPr txBox="1"/>
          <p:nvPr/>
        </p:nvSpPr>
        <p:spPr>
          <a:xfrm>
            <a:off x="1401820" y="874307"/>
            <a:ext cx="7395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Desenhar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projetos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tornar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homogêneo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desempenho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 redes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Municipais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Estaduais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C35073-133C-4374-8E28-793EBD706996}"/>
              </a:ext>
            </a:extLst>
          </p:cNvPr>
          <p:cNvGrpSpPr/>
          <p:nvPr/>
        </p:nvGrpSpPr>
        <p:grpSpPr>
          <a:xfrm>
            <a:off x="219398" y="866060"/>
            <a:ext cx="913549" cy="861261"/>
            <a:chOff x="219398" y="866060"/>
            <a:chExt cx="913549" cy="86126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B49BB5E-3B16-4D12-82CC-E18A0AC68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398" y="866060"/>
              <a:ext cx="537746" cy="506223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57015C9-BCFC-47D4-8DCD-C7B579EDF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8271" y="1017244"/>
              <a:ext cx="644676" cy="710077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1256474-2FF0-4C8D-B1AF-987A22D6D065}"/>
              </a:ext>
            </a:extLst>
          </p:cNvPr>
          <p:cNvSpPr/>
          <p:nvPr/>
        </p:nvSpPr>
        <p:spPr>
          <a:xfrm>
            <a:off x="106532" y="800884"/>
            <a:ext cx="8818070" cy="1835784"/>
          </a:xfrm>
          <a:prstGeom prst="rect">
            <a:avLst/>
          </a:prstGeom>
          <a:noFill/>
          <a:ln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B2C7E8-97C8-48A5-BD16-EA33127746C7}"/>
              </a:ext>
            </a:extLst>
          </p:cNvPr>
          <p:cNvSpPr txBox="1"/>
          <p:nvPr/>
        </p:nvSpPr>
        <p:spPr>
          <a:xfrm>
            <a:off x="1670693" y="1586000"/>
            <a:ext cx="73950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Aumentar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número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matrículas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Ensino integral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Estabelecer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estrutura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atividades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escolas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capaz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promover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simultaneamente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aprendizado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interação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escola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sociedade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Foco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inicial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escolas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cenário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4D9864-36ED-4640-B13E-019B09F8D7B8}"/>
              </a:ext>
            </a:extLst>
          </p:cNvPr>
          <p:cNvSpPr/>
          <p:nvPr/>
        </p:nvSpPr>
        <p:spPr>
          <a:xfrm>
            <a:off x="106532" y="2831485"/>
            <a:ext cx="8818070" cy="1835784"/>
          </a:xfrm>
          <a:prstGeom prst="rect">
            <a:avLst/>
          </a:prstGeom>
          <a:noFill/>
          <a:ln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26ECA5-469B-434B-B9EF-9916E795E7E4}"/>
              </a:ext>
            </a:extLst>
          </p:cNvPr>
          <p:cNvSpPr txBox="1"/>
          <p:nvPr/>
        </p:nvSpPr>
        <p:spPr>
          <a:xfrm>
            <a:off x="1401820" y="2932862"/>
            <a:ext cx="73950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perguntas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relevantes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devemos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investigar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D7A08C-B4A3-4A1E-A6A6-7BBC227D00A7}"/>
              </a:ext>
            </a:extLst>
          </p:cNvPr>
          <p:cNvSpPr txBox="1"/>
          <p:nvPr/>
        </p:nvSpPr>
        <p:spPr>
          <a:xfrm>
            <a:off x="1670693" y="3517637"/>
            <a:ext cx="73950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aumentando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escola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evoluindo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6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possível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escola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progressão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evolução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positivas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BD9ACD-0E13-4824-99B5-70293505C4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368" y="2996386"/>
            <a:ext cx="804743" cy="75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57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/>
          <p:nvPr/>
        </p:nvSpPr>
        <p:spPr>
          <a:xfrm>
            <a:off x="0" y="-25027"/>
            <a:ext cx="9144000" cy="5143500"/>
          </a:xfrm>
          <a:prstGeom prst="rect">
            <a:avLst/>
          </a:prstGeom>
          <a:gradFill>
            <a:gsLst>
              <a:gs pos="0">
                <a:srgbClr val="2B8D5E"/>
              </a:gs>
              <a:gs pos="100000">
                <a:srgbClr val="29BA74"/>
              </a:gs>
            </a:gsLst>
            <a:lin ang="0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6"/>
          <p:cNvSpPr txBox="1"/>
          <p:nvPr/>
        </p:nvSpPr>
        <p:spPr>
          <a:xfrm>
            <a:off x="3333800" y="847496"/>
            <a:ext cx="2195700" cy="75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FFD966"/>
                </a:solidFill>
                <a:latin typeface="Roboto Slab"/>
                <a:ea typeface="Roboto Slab"/>
                <a:cs typeface="Roboto Slab"/>
                <a:sym typeface="Roboto Slab"/>
              </a:rPr>
              <a:t>E-xray Team:</a:t>
            </a:r>
            <a:r>
              <a:rPr lang="pt-BR" sz="2400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endParaRPr dirty="0"/>
          </a:p>
        </p:txBody>
      </p:sp>
      <p:sp>
        <p:nvSpPr>
          <p:cNvPr id="6" name="Google Shape;128;p26">
            <a:extLst>
              <a:ext uri="{FF2B5EF4-FFF2-40B4-BE49-F238E27FC236}">
                <a16:creationId xmlns:a16="http://schemas.microsoft.com/office/drawing/2014/main" id="{292E3DB2-01FB-4006-BCD5-2BAD21FA4C92}"/>
              </a:ext>
            </a:extLst>
          </p:cNvPr>
          <p:cNvSpPr txBox="1"/>
          <p:nvPr/>
        </p:nvSpPr>
        <p:spPr>
          <a:xfrm>
            <a:off x="3152868" y="354280"/>
            <a:ext cx="2557564" cy="75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FFD966"/>
                </a:solidFill>
                <a:latin typeface="Roboto Slab"/>
                <a:ea typeface="Roboto Slab"/>
                <a:cs typeface="Roboto Slab"/>
                <a:sym typeface="Roboto Slab"/>
              </a:rPr>
              <a:t>Muito Obrigada!</a:t>
            </a:r>
            <a:endParaRPr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25553AF-4E92-4F64-89CB-C7C339E91DB0}"/>
              </a:ext>
            </a:extLst>
          </p:cNvPr>
          <p:cNvGrpSpPr/>
          <p:nvPr/>
        </p:nvGrpSpPr>
        <p:grpSpPr>
          <a:xfrm>
            <a:off x="2648027" y="1664737"/>
            <a:ext cx="4210200" cy="3000000"/>
            <a:chOff x="2159755" y="1718003"/>
            <a:chExt cx="4210200" cy="3000000"/>
          </a:xfrm>
        </p:grpSpPr>
        <p:sp>
          <p:nvSpPr>
            <p:cNvPr id="127" name="Google Shape;127;p26"/>
            <p:cNvSpPr txBox="1"/>
            <p:nvPr/>
          </p:nvSpPr>
          <p:spPr>
            <a:xfrm>
              <a:off x="2159755" y="1718003"/>
              <a:ext cx="4210200" cy="30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dirty="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	  Lídia Sawakuchi </a:t>
              </a:r>
              <a:endParaRPr sz="2400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	   Data Scientist</a:t>
              </a:r>
              <a:endParaRPr sz="1800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marL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543547C-8BE5-4942-97D2-5B90762C8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1926" y="2599989"/>
              <a:ext cx="645341" cy="6180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4905</TotalTime>
  <Words>1223</Words>
  <Application>Microsoft Office PowerPoint</Application>
  <PresentationFormat>On-screen Show (16:9)</PresentationFormat>
  <Paragraphs>147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Calibri</vt:lpstr>
      <vt:lpstr>Consolas</vt:lpstr>
      <vt:lpstr>Arial</vt:lpstr>
      <vt:lpstr>Times New Roman</vt:lpstr>
      <vt:lpstr>Roboto Slab</vt:lpstr>
      <vt:lpstr>Cambria Math</vt:lpstr>
      <vt:lpstr>Simple Light</vt:lpstr>
      <vt:lpstr>Simple Light</vt:lpstr>
      <vt:lpstr>PowerPoint Presentation</vt:lpstr>
      <vt:lpstr>PowerPoint Presentation</vt:lpstr>
      <vt:lpstr>PowerPoint Presentation</vt:lpstr>
      <vt:lpstr>Abordagem</vt:lpstr>
      <vt:lpstr>PowerPoint Presentation</vt:lpstr>
      <vt:lpstr>Metodologia: Ponto de Partida</vt:lpstr>
      <vt:lpstr>Curvas de Correspondência Direta</vt:lpstr>
      <vt:lpstr>Curvas de Correspondência Direta</vt:lpstr>
      <vt:lpstr>Curvas de Correspondência Indireta</vt:lpstr>
      <vt:lpstr>Aplicações das Métricas : Cenários</vt:lpstr>
      <vt:lpstr>Aplicações das Métricas : Cenários</vt:lpstr>
      <vt:lpstr>Aplicações das Métricas : Cenários</vt:lpstr>
      <vt:lpstr>Aplicações das Métricas : Cenários</vt:lpstr>
      <vt:lpstr>Aplicações das Métricas : Cenários</vt:lpstr>
      <vt:lpstr>Caracterização dos Cenários</vt:lpstr>
      <vt:lpstr>Caracterização dos Cenários</vt:lpstr>
      <vt:lpstr>Caracterização dos Cenários</vt:lpstr>
      <vt:lpstr>Caracterização dos Cenários</vt:lpstr>
      <vt:lpstr>PowerPoint Presentation</vt:lpstr>
      <vt:lpstr>Conclusões</vt:lpstr>
      <vt:lpstr>PowerPoint Presentation</vt:lpstr>
      <vt:lpstr>Recomendações : Traçando novas metas</vt:lpstr>
      <vt:lpstr>Recomendações : Ações mais efetivas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lsawakuchi</dc:creator>
  <cp:lastModifiedBy>Lidia Sawakuchi</cp:lastModifiedBy>
  <cp:revision>136</cp:revision>
  <dcterms:modified xsi:type="dcterms:W3CDTF">2018-11-28T15:17:40Z</dcterms:modified>
</cp:coreProperties>
</file>